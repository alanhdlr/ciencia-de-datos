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9" r:id="rId18"/>
    <p:sldId id="274" r:id="rId19"/>
    <p:sldId id="280"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59" d="100"/>
          <a:sy n="159" d="100"/>
        </p:scale>
        <p:origin x="306"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D22F415-A204-466D-A3F7-77F9B0DD4B12}" type="datetimeFigureOut">
              <a:rPr lang="es-MX" smtClean="0"/>
              <a:t>25/04/2026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169190EA-7229-40B5-9C06-8D0A666CE39D}" type="slidenum">
              <a:rPr lang="es-MX" smtClean="0"/>
              <a:t>‹Nº›</a:t>
            </a:fld>
            <a:endParaRPr lang="es-MX"/>
          </a:p>
        </p:txBody>
      </p:sp>
    </p:spTree>
    <p:extLst>
      <p:ext uri="{BB962C8B-B14F-4D97-AF65-F5344CB8AC3E}">
        <p14:creationId xmlns:p14="http://schemas.microsoft.com/office/powerpoint/2010/main" val="3581466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D22F415-A204-466D-A3F7-77F9B0DD4B12}" type="datetimeFigureOut">
              <a:rPr lang="es-MX" smtClean="0"/>
              <a:t>25/04/2026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169190EA-7229-40B5-9C06-8D0A666CE39D}" type="slidenum">
              <a:rPr lang="es-MX" smtClean="0"/>
              <a:t>‹Nº›</a:t>
            </a:fld>
            <a:endParaRPr lang="es-MX"/>
          </a:p>
        </p:txBody>
      </p:sp>
    </p:spTree>
    <p:extLst>
      <p:ext uri="{BB962C8B-B14F-4D97-AF65-F5344CB8AC3E}">
        <p14:creationId xmlns:p14="http://schemas.microsoft.com/office/powerpoint/2010/main" val="4100859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D22F415-A204-466D-A3F7-77F9B0DD4B12}" type="datetimeFigureOut">
              <a:rPr lang="es-MX" smtClean="0"/>
              <a:t>25/04/2026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169190EA-7229-40B5-9C06-8D0A666CE39D}" type="slidenum">
              <a:rPr lang="es-MX" smtClean="0"/>
              <a:t>‹Nº›</a:t>
            </a:fld>
            <a:endParaRPr lang="es-MX"/>
          </a:p>
        </p:txBody>
      </p:sp>
    </p:spTree>
    <p:extLst>
      <p:ext uri="{BB962C8B-B14F-4D97-AF65-F5344CB8AC3E}">
        <p14:creationId xmlns:p14="http://schemas.microsoft.com/office/powerpoint/2010/main" val="3138610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D22F415-A204-466D-A3F7-77F9B0DD4B12}" type="datetimeFigureOut">
              <a:rPr lang="es-MX" smtClean="0"/>
              <a:t>25/04/2026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169190EA-7229-40B5-9C06-8D0A666CE39D}" type="slidenum">
              <a:rPr lang="es-MX" smtClean="0"/>
              <a:t>‹Nº›</a:t>
            </a:fld>
            <a:endParaRPr lang="es-MX"/>
          </a:p>
        </p:txBody>
      </p:sp>
    </p:spTree>
    <p:extLst>
      <p:ext uri="{BB962C8B-B14F-4D97-AF65-F5344CB8AC3E}">
        <p14:creationId xmlns:p14="http://schemas.microsoft.com/office/powerpoint/2010/main" val="2540189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D22F415-A204-466D-A3F7-77F9B0DD4B12}" type="datetimeFigureOut">
              <a:rPr lang="es-MX" smtClean="0"/>
              <a:t>25/04/2026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169190EA-7229-40B5-9C06-8D0A666CE39D}" type="slidenum">
              <a:rPr lang="es-MX" smtClean="0"/>
              <a:t>‹Nº›</a:t>
            </a:fld>
            <a:endParaRPr lang="es-MX"/>
          </a:p>
        </p:txBody>
      </p:sp>
    </p:spTree>
    <p:extLst>
      <p:ext uri="{BB962C8B-B14F-4D97-AF65-F5344CB8AC3E}">
        <p14:creationId xmlns:p14="http://schemas.microsoft.com/office/powerpoint/2010/main" val="4199124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D22F415-A204-466D-A3F7-77F9B0DD4B12}" type="datetimeFigureOut">
              <a:rPr lang="es-MX" smtClean="0"/>
              <a:t>25/04/2026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169190EA-7229-40B5-9C06-8D0A666CE39D}" type="slidenum">
              <a:rPr lang="es-MX" smtClean="0"/>
              <a:t>‹Nº›</a:t>
            </a:fld>
            <a:endParaRPr lang="es-MX"/>
          </a:p>
        </p:txBody>
      </p:sp>
    </p:spTree>
    <p:extLst>
      <p:ext uri="{BB962C8B-B14F-4D97-AF65-F5344CB8AC3E}">
        <p14:creationId xmlns:p14="http://schemas.microsoft.com/office/powerpoint/2010/main" val="3732430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22F415-A204-466D-A3F7-77F9B0DD4B12}" type="datetimeFigureOut">
              <a:rPr lang="es-MX" smtClean="0"/>
              <a:t>25/04/2026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169190EA-7229-40B5-9C06-8D0A666CE39D}" type="slidenum">
              <a:rPr lang="es-MX" smtClean="0"/>
              <a:t>‹Nº›</a:t>
            </a:fld>
            <a:endParaRPr lang="es-MX"/>
          </a:p>
        </p:txBody>
      </p:sp>
    </p:spTree>
    <p:extLst>
      <p:ext uri="{BB962C8B-B14F-4D97-AF65-F5344CB8AC3E}">
        <p14:creationId xmlns:p14="http://schemas.microsoft.com/office/powerpoint/2010/main" val="902933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D22F415-A204-466D-A3F7-77F9B0DD4B12}" type="datetimeFigureOut">
              <a:rPr lang="es-MX" smtClean="0"/>
              <a:t>25/04/2026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169190EA-7229-40B5-9C06-8D0A666CE39D}" type="slidenum">
              <a:rPr lang="es-MX" smtClean="0"/>
              <a:t>‹Nº›</a:t>
            </a:fld>
            <a:endParaRPr lang="es-MX"/>
          </a:p>
        </p:txBody>
      </p:sp>
    </p:spTree>
    <p:extLst>
      <p:ext uri="{BB962C8B-B14F-4D97-AF65-F5344CB8AC3E}">
        <p14:creationId xmlns:p14="http://schemas.microsoft.com/office/powerpoint/2010/main" val="484393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D22F415-A204-466D-A3F7-77F9B0DD4B12}" type="datetimeFigureOut">
              <a:rPr lang="es-MX" smtClean="0"/>
              <a:t>25/04/2026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169190EA-7229-40B5-9C06-8D0A666CE39D}" type="slidenum">
              <a:rPr lang="es-MX" smtClean="0"/>
              <a:t>‹Nº›</a:t>
            </a:fld>
            <a:endParaRPr lang="es-MX"/>
          </a:p>
        </p:txBody>
      </p:sp>
    </p:spTree>
    <p:extLst>
      <p:ext uri="{BB962C8B-B14F-4D97-AF65-F5344CB8AC3E}">
        <p14:creationId xmlns:p14="http://schemas.microsoft.com/office/powerpoint/2010/main" val="2732582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D22F415-A204-466D-A3F7-77F9B0DD4B12}" type="datetimeFigureOut">
              <a:rPr lang="es-MX" smtClean="0"/>
              <a:t>25/04/2026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169190EA-7229-40B5-9C06-8D0A666CE39D}" type="slidenum">
              <a:rPr lang="es-MX" smtClean="0"/>
              <a:t>‹Nº›</a:t>
            </a:fld>
            <a:endParaRPr lang="es-MX"/>
          </a:p>
        </p:txBody>
      </p:sp>
    </p:spTree>
    <p:extLst>
      <p:ext uri="{BB962C8B-B14F-4D97-AF65-F5344CB8AC3E}">
        <p14:creationId xmlns:p14="http://schemas.microsoft.com/office/powerpoint/2010/main" val="215252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D22F415-A204-466D-A3F7-77F9B0DD4B12}" type="datetimeFigureOut">
              <a:rPr lang="es-MX" smtClean="0"/>
              <a:t>25/04/2026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169190EA-7229-40B5-9C06-8D0A666CE39D}" type="slidenum">
              <a:rPr lang="es-MX" smtClean="0"/>
              <a:t>‹Nº›</a:t>
            </a:fld>
            <a:endParaRPr lang="es-MX"/>
          </a:p>
        </p:txBody>
      </p:sp>
    </p:spTree>
    <p:extLst>
      <p:ext uri="{BB962C8B-B14F-4D97-AF65-F5344CB8AC3E}">
        <p14:creationId xmlns:p14="http://schemas.microsoft.com/office/powerpoint/2010/main" val="2190161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D22F415-A204-466D-A3F7-77F9B0DD4B12}" type="datetimeFigureOut">
              <a:rPr lang="es-MX" smtClean="0"/>
              <a:t>25/04/2026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169190EA-7229-40B5-9C06-8D0A666CE39D}" type="slidenum">
              <a:rPr lang="es-MX" smtClean="0"/>
              <a:t>‹Nº›</a:t>
            </a:fld>
            <a:endParaRPr lang="es-MX"/>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477519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D22F415-A204-466D-A3F7-77F9B0DD4B12}" type="datetimeFigureOut">
              <a:rPr lang="es-MX" smtClean="0"/>
              <a:t>25/04/2026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169190EA-7229-40B5-9C06-8D0A666CE39D}" type="slidenum">
              <a:rPr lang="es-MX" smtClean="0"/>
              <a:t>‹Nº›</a:t>
            </a:fld>
            <a:endParaRPr lang="es-MX"/>
          </a:p>
        </p:txBody>
      </p:sp>
    </p:spTree>
    <p:extLst>
      <p:ext uri="{BB962C8B-B14F-4D97-AF65-F5344CB8AC3E}">
        <p14:creationId xmlns:p14="http://schemas.microsoft.com/office/powerpoint/2010/main" val="41235002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BD22F415-A204-466D-A3F7-77F9B0DD4B12}" type="datetimeFigureOut">
              <a:rPr lang="es-MX" smtClean="0"/>
              <a:t>25/04/2026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169190EA-7229-40B5-9C06-8D0A666CE39D}" type="slidenum">
              <a:rPr lang="es-MX" smtClean="0"/>
              <a:t>‹Nº›</a:t>
            </a:fld>
            <a:endParaRPr lang="es-MX"/>
          </a:p>
        </p:txBody>
      </p:sp>
    </p:spTree>
    <p:extLst>
      <p:ext uri="{BB962C8B-B14F-4D97-AF65-F5344CB8AC3E}">
        <p14:creationId xmlns:p14="http://schemas.microsoft.com/office/powerpoint/2010/main" val="928084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BD22F415-A204-466D-A3F7-77F9B0DD4B12}" type="datetimeFigureOut">
              <a:rPr lang="es-MX" smtClean="0"/>
              <a:t>25/04/2026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169190EA-7229-40B5-9C06-8D0A666CE39D}" type="slidenum">
              <a:rPr lang="es-MX" smtClean="0"/>
              <a:t>‹Nº›</a:t>
            </a:fld>
            <a:endParaRPr lang="es-MX"/>
          </a:p>
        </p:txBody>
      </p:sp>
    </p:spTree>
    <p:extLst>
      <p:ext uri="{BB962C8B-B14F-4D97-AF65-F5344CB8AC3E}">
        <p14:creationId xmlns:p14="http://schemas.microsoft.com/office/powerpoint/2010/main" val="26127020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D22F415-A204-466D-A3F7-77F9B0DD4B12}" type="datetimeFigureOut">
              <a:rPr lang="es-MX" smtClean="0"/>
              <a:t>25/04/2026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169190EA-7229-40B5-9C06-8D0A666CE39D}" type="slidenum">
              <a:rPr lang="es-MX" smtClean="0"/>
              <a:t>‹Nº›</a:t>
            </a:fld>
            <a:endParaRPr lang="es-MX"/>
          </a:p>
        </p:txBody>
      </p:sp>
    </p:spTree>
    <p:extLst>
      <p:ext uri="{BB962C8B-B14F-4D97-AF65-F5344CB8AC3E}">
        <p14:creationId xmlns:p14="http://schemas.microsoft.com/office/powerpoint/2010/main" val="29062143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D22F415-A204-466D-A3F7-77F9B0DD4B12}" type="datetimeFigureOut">
              <a:rPr lang="es-MX" smtClean="0"/>
              <a:t>25/04/2026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169190EA-7229-40B5-9C06-8D0A666CE39D}" type="slidenum">
              <a:rPr lang="es-MX" smtClean="0"/>
              <a:t>‹Nº›</a:t>
            </a:fld>
            <a:endParaRPr lang="es-MX"/>
          </a:p>
        </p:txBody>
      </p:sp>
    </p:spTree>
    <p:extLst>
      <p:ext uri="{BB962C8B-B14F-4D97-AF65-F5344CB8AC3E}">
        <p14:creationId xmlns:p14="http://schemas.microsoft.com/office/powerpoint/2010/main" val="63801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D22F415-A204-466D-A3F7-77F9B0DD4B12}" type="datetimeFigureOut">
              <a:rPr lang="es-MX" smtClean="0"/>
              <a:t>25/04/2026</a:t>
            </a:fld>
            <a:endParaRPr lang="es-MX"/>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s-MX"/>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69190EA-7229-40B5-9C06-8D0A666CE39D}" type="slidenum">
              <a:rPr lang="es-MX" smtClean="0"/>
              <a:t>‹Nº›</a:t>
            </a:fld>
            <a:endParaRPr lang="es-MX"/>
          </a:p>
        </p:txBody>
      </p:sp>
    </p:spTree>
    <p:extLst>
      <p:ext uri="{BB962C8B-B14F-4D97-AF65-F5344CB8AC3E}">
        <p14:creationId xmlns:p14="http://schemas.microsoft.com/office/powerpoint/2010/main" val="400235267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2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ECA2D76-B282-A472-6DF6-5ED48727B764}"/>
              </a:ext>
            </a:extLst>
          </p:cNvPr>
          <p:cNvSpPr txBox="1"/>
          <p:nvPr/>
        </p:nvSpPr>
        <p:spPr>
          <a:xfrm>
            <a:off x="1443124" y="126332"/>
            <a:ext cx="9305753" cy="3785652"/>
          </a:xfrm>
          <a:prstGeom prst="rect">
            <a:avLst/>
          </a:prstGeom>
          <a:noFill/>
        </p:spPr>
        <p:txBody>
          <a:bodyPr wrap="none" rtlCol="0">
            <a:spAutoFit/>
          </a:bodyPr>
          <a:lstStyle/>
          <a:p>
            <a:pPr algn="ctr"/>
            <a:r>
              <a:rPr lang="es-MX" sz="3200" b="1" dirty="0">
                <a:latin typeface="Bahnschrift" panose="020B0502040204020203" pitchFamily="34" charset="0"/>
              </a:rPr>
              <a:t>Optimización Estratégica mediante el Análisis de</a:t>
            </a:r>
          </a:p>
          <a:p>
            <a:pPr algn="ctr"/>
            <a:r>
              <a:rPr lang="es-MX" sz="3200" b="1" dirty="0">
                <a:latin typeface="Bahnschrift" panose="020B0502040204020203" pitchFamily="34" charset="0"/>
              </a:rPr>
              <a:t> Datos de Consumo</a:t>
            </a:r>
          </a:p>
          <a:p>
            <a:pPr algn="ctr"/>
            <a:endParaRPr lang="es-MX" sz="2000" dirty="0"/>
          </a:p>
          <a:p>
            <a:pPr algn="ctr"/>
            <a:endParaRPr lang="es-MX" sz="3200" dirty="0"/>
          </a:p>
          <a:p>
            <a:pPr algn="ctr"/>
            <a:r>
              <a:rPr lang="es-MX" sz="3200" dirty="0">
                <a:latin typeface="Bahnschrift" panose="020B0502040204020203" pitchFamily="34" charset="0"/>
              </a:rPr>
              <a:t>Proyecto Final: Análisis de Ventas y Rendimiento  </a:t>
            </a:r>
          </a:p>
          <a:p>
            <a:pPr algn="ctr"/>
            <a:r>
              <a:rPr lang="es-MX" sz="3200" dirty="0">
                <a:latin typeface="Bahnschrift" panose="020B0502040204020203" pitchFamily="34" charset="0"/>
              </a:rPr>
              <a:t>Sector Productos de Limpieza(Vanish y Lysol)</a:t>
            </a:r>
          </a:p>
          <a:p>
            <a:pPr algn="ctr"/>
            <a:endParaRPr lang="es-MX" sz="2800" dirty="0">
              <a:latin typeface="Bahnschrift" panose="020B0502040204020203" pitchFamily="34" charset="0"/>
            </a:endParaRPr>
          </a:p>
          <a:p>
            <a:pPr algn="ctr"/>
            <a:endParaRPr lang="es-MX" sz="3200" dirty="0">
              <a:latin typeface="Bahnschrift" panose="020B0502040204020203" pitchFamily="34" charset="0"/>
            </a:endParaRPr>
          </a:p>
        </p:txBody>
      </p:sp>
      <p:pic>
        <p:nvPicPr>
          <p:cNvPr id="6" name="Imagen 5" descr="Logotipo&#10;&#10;El contenido generado por IA puede ser incorrecto.">
            <a:extLst>
              <a:ext uri="{FF2B5EF4-FFF2-40B4-BE49-F238E27FC236}">
                <a16:creationId xmlns:a16="http://schemas.microsoft.com/office/drawing/2014/main" id="{BF5C4ADB-2D60-2D65-6CAF-9B16E58F1C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8387" y="4725028"/>
            <a:ext cx="3515226" cy="1808119"/>
          </a:xfrm>
          <a:prstGeom prst="rect">
            <a:avLst/>
          </a:prstGeom>
        </p:spPr>
      </p:pic>
    </p:spTree>
    <p:extLst>
      <p:ext uri="{BB962C8B-B14F-4D97-AF65-F5344CB8AC3E}">
        <p14:creationId xmlns:p14="http://schemas.microsoft.com/office/powerpoint/2010/main" val="1431653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8FD891A-F73A-9A70-8CED-E614395F4287}"/>
              </a:ext>
            </a:extLst>
          </p:cNvPr>
          <p:cNvSpPr txBox="1"/>
          <p:nvPr/>
        </p:nvSpPr>
        <p:spPr>
          <a:xfrm>
            <a:off x="363956" y="183521"/>
            <a:ext cx="11300660" cy="6186309"/>
          </a:xfrm>
          <a:prstGeom prst="rect">
            <a:avLst/>
          </a:prstGeom>
          <a:noFill/>
        </p:spPr>
        <p:txBody>
          <a:bodyPr wrap="square" rtlCol="0">
            <a:spAutoFit/>
          </a:bodyPr>
          <a:lstStyle/>
          <a:p>
            <a:pPr algn="ctr"/>
            <a:r>
              <a:rPr lang="es-MX" sz="2400" b="1" dirty="0">
                <a:latin typeface="Bahnschrift" panose="020B0502040204020203" pitchFamily="34" charset="0"/>
              </a:rPr>
              <a:t>Contexto y Relevancia</a:t>
            </a:r>
          </a:p>
          <a:p>
            <a:pPr algn="just"/>
            <a:endParaRPr lang="es-MX" b="1" dirty="0">
              <a:latin typeface="Bahnschrift" panose="020B0502040204020203" pitchFamily="34" charset="0"/>
            </a:endParaRPr>
          </a:p>
          <a:p>
            <a:pPr algn="just"/>
            <a:r>
              <a:rPr lang="es-MX" b="1" dirty="0">
                <a:latin typeface="Bahnschrift" panose="020B0502040204020203" pitchFamily="34" charset="0"/>
              </a:rPr>
              <a:t>Contexto del Proyecto:</a:t>
            </a:r>
            <a:r>
              <a:rPr lang="es-MX" dirty="0">
                <a:latin typeface="Bahnschrift" panose="020B0502040204020203" pitchFamily="34" charset="0"/>
              </a:rPr>
              <a:t> </a:t>
            </a:r>
          </a:p>
          <a:p>
            <a:pPr algn="just"/>
            <a:endParaRPr lang="es-MX" sz="800" dirty="0">
              <a:latin typeface="Bahnschrift" panose="020B0502040204020203" pitchFamily="34" charset="0"/>
            </a:endParaRPr>
          </a:p>
          <a:p>
            <a:pPr algn="just"/>
            <a:r>
              <a:rPr lang="es-MX" dirty="0">
                <a:latin typeface="Bahnschrift" panose="020B0502040204020203" pitchFamily="34" charset="0"/>
              </a:rPr>
              <a:t>El proyecto surge de la necesidad de transformar los datos transaccionales brutos de una empresa de </a:t>
            </a:r>
          </a:p>
          <a:p>
            <a:pPr algn="just"/>
            <a:r>
              <a:rPr lang="es-MX" dirty="0">
                <a:latin typeface="Bahnschrift" panose="020B0502040204020203" pitchFamily="34" charset="0"/>
              </a:rPr>
              <a:t>productos de limpieza (enfocada en marcas como </a:t>
            </a:r>
            <a:r>
              <a:rPr lang="es-MX" dirty="0" err="1">
                <a:latin typeface="Bahnschrift" panose="020B0502040204020203" pitchFamily="34" charset="0"/>
              </a:rPr>
              <a:t>Clorox</a:t>
            </a:r>
            <a:r>
              <a:rPr lang="es-MX" dirty="0">
                <a:latin typeface="Bahnschrift" panose="020B0502040204020203" pitchFamily="34" charset="0"/>
              </a:rPr>
              <a:t> y similares) en información accionable. </a:t>
            </a:r>
          </a:p>
          <a:p>
            <a:pPr algn="just"/>
            <a:r>
              <a:rPr lang="es-MX" dirty="0">
                <a:latin typeface="Bahnschrift" panose="020B0502040204020203" pitchFamily="34" charset="0"/>
              </a:rPr>
              <a:t>El análisis abarca desde la extracción de datos de ventas hasta la identificación de patrones de consumo </a:t>
            </a:r>
          </a:p>
          <a:p>
            <a:pPr algn="just"/>
            <a:r>
              <a:rPr lang="es-MX" dirty="0">
                <a:latin typeface="Bahnschrift" panose="020B0502040204020203" pitchFamily="34" charset="0"/>
              </a:rPr>
              <a:t>regional y por categoría de producto.</a:t>
            </a:r>
          </a:p>
          <a:p>
            <a:pPr algn="just"/>
            <a:endParaRPr lang="es-MX" dirty="0">
              <a:latin typeface="Bahnschrift" panose="020B0502040204020203" pitchFamily="34" charset="0"/>
            </a:endParaRPr>
          </a:p>
          <a:p>
            <a:pPr algn="just"/>
            <a:endParaRPr lang="es-MX" sz="1200" dirty="0">
              <a:latin typeface="Bahnschrift" panose="020B0502040204020203" pitchFamily="34" charset="0"/>
            </a:endParaRPr>
          </a:p>
          <a:p>
            <a:pPr algn="just"/>
            <a:r>
              <a:rPr lang="es-MX" b="1" dirty="0">
                <a:latin typeface="Bahnschrift" panose="020B0502040204020203" pitchFamily="34" charset="0"/>
              </a:rPr>
              <a:t>Relevancia del Análisis:</a:t>
            </a:r>
            <a:endParaRPr lang="es-MX" dirty="0">
              <a:latin typeface="Bahnschrift" panose="020B0502040204020203" pitchFamily="34" charset="0"/>
            </a:endParaRPr>
          </a:p>
          <a:p>
            <a:pPr marL="742950" lvl="1" indent="-285750" algn="just">
              <a:buFont typeface="Arial" panose="020B0604020202020204" pitchFamily="34" charset="0"/>
              <a:buChar char="•"/>
            </a:pPr>
            <a:endParaRPr lang="es-MX" sz="1000" b="1" dirty="0">
              <a:latin typeface="Bahnschrift" panose="020B0502040204020203" pitchFamily="34" charset="0"/>
            </a:endParaRPr>
          </a:p>
          <a:p>
            <a:pPr marL="742950" lvl="1" indent="-285750" algn="just">
              <a:buFont typeface="Arial" panose="020B0604020202020204" pitchFamily="34" charset="0"/>
              <a:buChar char="•"/>
            </a:pPr>
            <a:r>
              <a:rPr lang="es-MX" b="1" dirty="0">
                <a:latin typeface="Bahnschrift" panose="020B0502040204020203" pitchFamily="34" charset="0"/>
              </a:rPr>
              <a:t>Toma de Decisiones Basada en Evidencia:</a:t>
            </a:r>
            <a:r>
              <a:rPr lang="es-MX" dirty="0">
                <a:latin typeface="Bahnschrift" panose="020B0502040204020203" pitchFamily="34" charset="0"/>
              </a:rPr>
              <a:t> Sustituir la intuición por métricas reales para definir promociones </a:t>
            </a:r>
          </a:p>
          <a:p>
            <a:pPr lvl="1" algn="just"/>
            <a:r>
              <a:rPr lang="es-MX" dirty="0">
                <a:latin typeface="Bahnschrift" panose="020B0502040204020203" pitchFamily="34" charset="0"/>
              </a:rPr>
              <a:t>      y stock.</a:t>
            </a:r>
          </a:p>
          <a:p>
            <a:pPr marL="742950" lvl="1" indent="-285750" algn="just">
              <a:buFont typeface="Arial" panose="020B0604020202020204" pitchFamily="34" charset="0"/>
              <a:buChar char="•"/>
            </a:pPr>
            <a:endParaRPr lang="es-MX" b="1" dirty="0">
              <a:latin typeface="Bahnschrift" panose="020B0502040204020203" pitchFamily="34" charset="0"/>
            </a:endParaRPr>
          </a:p>
          <a:p>
            <a:pPr marL="742950" lvl="1" indent="-285750" algn="just">
              <a:buFont typeface="Arial" panose="020B0604020202020204" pitchFamily="34" charset="0"/>
              <a:buChar char="•"/>
            </a:pPr>
            <a:r>
              <a:rPr lang="es-MX" b="1" dirty="0">
                <a:latin typeface="Bahnschrift" panose="020B0502040204020203" pitchFamily="34" charset="0"/>
              </a:rPr>
              <a:t>Identificación de Oportunidades:</a:t>
            </a:r>
            <a:r>
              <a:rPr lang="es-MX" dirty="0">
                <a:latin typeface="Bahnschrift" panose="020B0502040204020203" pitchFamily="34" charset="0"/>
              </a:rPr>
              <a:t> Detectar qué regiones o marcas están subrepresentadas o tienen un </a:t>
            </a:r>
          </a:p>
          <a:p>
            <a:pPr lvl="1" algn="just"/>
            <a:r>
              <a:rPr lang="es-MX" dirty="0">
                <a:latin typeface="Bahnschrift" panose="020B0502040204020203" pitchFamily="34" charset="0"/>
              </a:rPr>
              <a:t>     crecimiento acelerado.</a:t>
            </a:r>
          </a:p>
          <a:p>
            <a:pPr marL="742950" lvl="1" indent="-285750" algn="just">
              <a:buFont typeface="Arial" panose="020B0604020202020204" pitchFamily="34" charset="0"/>
              <a:buChar char="•"/>
            </a:pPr>
            <a:endParaRPr lang="es-MX" b="1" dirty="0">
              <a:latin typeface="Bahnschrift" panose="020B0502040204020203" pitchFamily="34" charset="0"/>
            </a:endParaRPr>
          </a:p>
          <a:p>
            <a:pPr marL="742950" lvl="1" indent="-285750" algn="just">
              <a:buFont typeface="Arial" panose="020B0604020202020204" pitchFamily="34" charset="0"/>
              <a:buChar char="•"/>
            </a:pPr>
            <a:r>
              <a:rPr lang="es-MX" b="1" dirty="0">
                <a:latin typeface="Bahnschrift" panose="020B0502040204020203" pitchFamily="34" charset="0"/>
              </a:rPr>
              <a:t>Optimización de Recursos:</a:t>
            </a:r>
            <a:r>
              <a:rPr lang="es-MX" dirty="0">
                <a:latin typeface="Bahnschrift" panose="020B0502040204020203" pitchFamily="34" charset="0"/>
              </a:rPr>
              <a:t> Al entender el rendimiento histórico, la empresa puede </a:t>
            </a:r>
          </a:p>
          <a:p>
            <a:pPr lvl="1" algn="just"/>
            <a:r>
              <a:rPr lang="es-MX" dirty="0">
                <a:latin typeface="Bahnschrift" panose="020B0502040204020203" pitchFamily="34" charset="0"/>
              </a:rPr>
              <a:t>     asignar presupuestos de marketing de manera más eficiente hacia los productos </a:t>
            </a:r>
          </a:p>
          <a:p>
            <a:pPr lvl="1" algn="just"/>
            <a:r>
              <a:rPr lang="es-MX" dirty="0">
                <a:latin typeface="Bahnschrift" panose="020B0502040204020203" pitchFamily="34" charset="0"/>
              </a:rPr>
              <a:t>     con mayor margen o rotación.</a:t>
            </a:r>
          </a:p>
          <a:p>
            <a:pPr algn="just"/>
            <a:endParaRPr lang="es-MX" dirty="0"/>
          </a:p>
        </p:txBody>
      </p:sp>
      <p:pic>
        <p:nvPicPr>
          <p:cNvPr id="4" name="Imagen 3">
            <a:extLst>
              <a:ext uri="{FF2B5EF4-FFF2-40B4-BE49-F238E27FC236}">
                <a16:creationId xmlns:a16="http://schemas.microsoft.com/office/drawing/2014/main" id="{1DFAE878-DFC0-BE0A-B448-E2B41589EA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053" y="4904961"/>
            <a:ext cx="1823786" cy="1667250"/>
          </a:xfrm>
          <a:prstGeom prst="rect">
            <a:avLst/>
          </a:prstGeom>
        </p:spPr>
      </p:pic>
    </p:spTree>
    <p:extLst>
      <p:ext uri="{BB962C8B-B14F-4D97-AF65-F5344CB8AC3E}">
        <p14:creationId xmlns:p14="http://schemas.microsoft.com/office/powerpoint/2010/main" val="1141379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647DA45-A0DB-C84E-692B-E5233D8C943B}"/>
              </a:ext>
            </a:extLst>
          </p:cNvPr>
          <p:cNvSpPr txBox="1"/>
          <p:nvPr/>
        </p:nvSpPr>
        <p:spPr>
          <a:xfrm>
            <a:off x="590552" y="492878"/>
            <a:ext cx="8181473" cy="5078313"/>
          </a:xfrm>
          <a:prstGeom prst="rect">
            <a:avLst/>
          </a:prstGeom>
          <a:noFill/>
        </p:spPr>
        <p:txBody>
          <a:bodyPr wrap="square" rtlCol="0">
            <a:spAutoFit/>
          </a:bodyPr>
          <a:lstStyle/>
          <a:p>
            <a:r>
              <a:rPr lang="es-MX" b="1" dirty="0">
                <a:latin typeface="Bahnschrift" panose="020B0502040204020203" pitchFamily="34" charset="0"/>
              </a:rPr>
              <a:t>Ecosistema Tecnológico</a:t>
            </a:r>
          </a:p>
          <a:p>
            <a:endParaRPr lang="es-MX" dirty="0">
              <a:latin typeface="Bahnschrift" panose="020B0502040204020203" pitchFamily="34" charset="0"/>
            </a:endParaRPr>
          </a:p>
          <a:p>
            <a:r>
              <a:rPr lang="es-MX" b="1" dirty="0">
                <a:latin typeface="Bahnschrift" panose="020B0502040204020203" pitchFamily="34" charset="0"/>
              </a:rPr>
              <a:t>SQL (Extracción y Gestión): </a:t>
            </a:r>
          </a:p>
          <a:p>
            <a:r>
              <a:rPr lang="es-MX" dirty="0">
                <a:latin typeface="Bahnschrift" panose="020B0502040204020203" pitchFamily="34" charset="0"/>
              </a:rPr>
              <a:t>Utilizado para la consulta de bases de datos relacionales, permitiendo la unificación de tablas de ventas, productos y clientes.</a:t>
            </a:r>
          </a:p>
          <a:p>
            <a:endParaRPr lang="es-MX" dirty="0">
              <a:latin typeface="Bahnschrift" panose="020B0502040204020203" pitchFamily="34" charset="0"/>
            </a:endParaRPr>
          </a:p>
          <a:p>
            <a:endParaRPr lang="es-MX" dirty="0">
              <a:latin typeface="Bahnschrift" panose="020B0502040204020203" pitchFamily="34" charset="0"/>
            </a:endParaRPr>
          </a:p>
          <a:p>
            <a:endParaRPr lang="es-MX" dirty="0">
              <a:latin typeface="Bahnschrift" panose="020B0502040204020203" pitchFamily="34" charset="0"/>
            </a:endParaRPr>
          </a:p>
          <a:p>
            <a:r>
              <a:rPr lang="es-MX" b="1" dirty="0">
                <a:latin typeface="Bahnschrift" panose="020B0502040204020203" pitchFamily="34" charset="0"/>
              </a:rPr>
              <a:t>Python (Procesamiento y Limpieza): </a:t>
            </a:r>
          </a:p>
          <a:p>
            <a:r>
              <a:rPr lang="es-MX" dirty="0">
                <a:latin typeface="Bahnschrift" panose="020B0502040204020203" pitchFamily="34" charset="0"/>
              </a:rPr>
              <a:t>Aplicado para el análisis exploratorio de datos (EDA), manejo de valores nulos y transformaciones complejas mediante librerías como Pandas y </a:t>
            </a:r>
            <a:r>
              <a:rPr lang="es-MX" dirty="0" err="1">
                <a:latin typeface="Bahnschrift" panose="020B0502040204020203" pitchFamily="34" charset="0"/>
              </a:rPr>
              <a:t>Numpy</a:t>
            </a:r>
            <a:r>
              <a:rPr lang="es-MX" dirty="0">
                <a:latin typeface="Bahnschrift" panose="020B0502040204020203" pitchFamily="34" charset="0"/>
              </a:rPr>
              <a:t>.</a:t>
            </a:r>
          </a:p>
          <a:p>
            <a:endParaRPr lang="es-MX" dirty="0">
              <a:latin typeface="Bahnschrift" panose="020B0502040204020203" pitchFamily="34" charset="0"/>
            </a:endParaRPr>
          </a:p>
          <a:p>
            <a:endParaRPr lang="es-MX" dirty="0">
              <a:latin typeface="Bahnschrift" panose="020B0502040204020203" pitchFamily="34" charset="0"/>
            </a:endParaRPr>
          </a:p>
          <a:p>
            <a:endParaRPr lang="es-MX" dirty="0">
              <a:latin typeface="Bahnschrift" panose="020B0502040204020203" pitchFamily="34" charset="0"/>
            </a:endParaRPr>
          </a:p>
          <a:p>
            <a:r>
              <a:rPr lang="es-MX" b="1" dirty="0" err="1">
                <a:latin typeface="Bahnschrift" panose="020B0502040204020203" pitchFamily="34" charset="0"/>
              </a:rPr>
              <a:t>Power</a:t>
            </a:r>
            <a:r>
              <a:rPr lang="es-MX" b="1" dirty="0">
                <a:latin typeface="Bahnschrift" panose="020B0502040204020203" pitchFamily="34" charset="0"/>
              </a:rPr>
              <a:t> BI (Visualización y Business </a:t>
            </a:r>
            <a:r>
              <a:rPr lang="es-MX" b="1" dirty="0" err="1">
                <a:latin typeface="Bahnschrift" panose="020B0502040204020203" pitchFamily="34" charset="0"/>
              </a:rPr>
              <a:t>Intelligence</a:t>
            </a:r>
            <a:r>
              <a:rPr lang="es-MX" b="1" dirty="0">
                <a:latin typeface="Bahnschrift" panose="020B0502040204020203" pitchFamily="34" charset="0"/>
              </a:rPr>
              <a:t>): </a:t>
            </a:r>
          </a:p>
          <a:p>
            <a:r>
              <a:rPr lang="es-MX" dirty="0">
                <a:latin typeface="Bahnschrift" panose="020B0502040204020203" pitchFamily="34" charset="0"/>
              </a:rPr>
              <a:t>Herramienta final para la creación de un dashboard interactivo que permite a los </a:t>
            </a:r>
            <a:r>
              <a:rPr lang="es-MX" dirty="0" err="1">
                <a:latin typeface="Bahnschrift" panose="020B0502040204020203" pitchFamily="34" charset="0"/>
              </a:rPr>
              <a:t>stakeholders</a:t>
            </a:r>
            <a:r>
              <a:rPr lang="es-MX" dirty="0">
                <a:latin typeface="Bahnschrift" panose="020B0502040204020203" pitchFamily="34" charset="0"/>
              </a:rPr>
              <a:t> filtrar resultados por periodo, marca y región en tiempo real.</a:t>
            </a:r>
          </a:p>
        </p:txBody>
      </p:sp>
      <p:pic>
        <p:nvPicPr>
          <p:cNvPr id="8" name="Imagen 7" descr="Interfaz de usuario gráfica, Logotipo&#10;&#10;El contenido generado por IA puede ser incorrecto.">
            <a:extLst>
              <a:ext uri="{FF2B5EF4-FFF2-40B4-BE49-F238E27FC236}">
                <a16:creationId xmlns:a16="http://schemas.microsoft.com/office/drawing/2014/main" id="{3F88C82A-11E8-ABE4-AD87-7D4CC1B8FD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5557" y="1881102"/>
            <a:ext cx="2352675" cy="2405062"/>
          </a:xfrm>
          <a:prstGeom prst="rect">
            <a:avLst/>
          </a:prstGeom>
        </p:spPr>
      </p:pic>
      <p:pic>
        <p:nvPicPr>
          <p:cNvPr id="10" name="Imagen 9" descr="Logotipo&#10;&#10;El contenido generado por IA puede ser incorrecto.">
            <a:extLst>
              <a:ext uri="{FF2B5EF4-FFF2-40B4-BE49-F238E27FC236}">
                <a16:creationId xmlns:a16="http://schemas.microsoft.com/office/drawing/2014/main" id="{73A43E21-7661-FF0B-2139-D0FCD2A1AC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75557" y="4735350"/>
            <a:ext cx="2625891" cy="694901"/>
          </a:xfrm>
          <a:prstGeom prst="rect">
            <a:avLst/>
          </a:prstGeom>
        </p:spPr>
      </p:pic>
      <p:pic>
        <p:nvPicPr>
          <p:cNvPr id="12" name="Imagen 11" descr="Logotipo&#10;&#10;El contenido generado por IA puede ser incorrecto.">
            <a:extLst>
              <a:ext uri="{FF2B5EF4-FFF2-40B4-BE49-F238E27FC236}">
                <a16:creationId xmlns:a16="http://schemas.microsoft.com/office/drawing/2014/main" id="{9F73ED8B-469C-7F4B-6A4F-D1738F9615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5557" y="892649"/>
            <a:ext cx="1689686" cy="988453"/>
          </a:xfrm>
          <a:prstGeom prst="rect">
            <a:avLst/>
          </a:prstGeom>
        </p:spPr>
      </p:pic>
    </p:spTree>
    <p:extLst>
      <p:ext uri="{BB962C8B-B14F-4D97-AF65-F5344CB8AC3E}">
        <p14:creationId xmlns:p14="http://schemas.microsoft.com/office/powerpoint/2010/main" val="3951585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A51D908-DF67-34CB-7463-101D6C4E0FE6}"/>
              </a:ext>
            </a:extLst>
          </p:cNvPr>
          <p:cNvSpPr txBox="1"/>
          <p:nvPr/>
        </p:nvSpPr>
        <p:spPr>
          <a:xfrm>
            <a:off x="1187115" y="369154"/>
            <a:ext cx="9817770" cy="1754326"/>
          </a:xfrm>
          <a:prstGeom prst="rect">
            <a:avLst/>
          </a:prstGeom>
          <a:noFill/>
        </p:spPr>
        <p:txBody>
          <a:bodyPr wrap="square" rtlCol="0">
            <a:spAutoFit/>
          </a:bodyPr>
          <a:lstStyle/>
          <a:p>
            <a:pPr algn="just"/>
            <a:r>
              <a:rPr lang="es-MX" b="1" i="0" dirty="0">
                <a:effectLst/>
                <a:latin typeface="Bahnschrift" panose="020B0502040204020203" pitchFamily="34" charset="0"/>
              </a:rPr>
              <a:t>2. Limpieza y Transformación de Datos con Python</a:t>
            </a:r>
          </a:p>
          <a:p>
            <a:pPr algn="just"/>
            <a:endParaRPr lang="es-MX" b="1" dirty="0">
              <a:latin typeface="Bahnschrift" panose="020B0502040204020203" pitchFamily="34" charset="0"/>
            </a:endParaRPr>
          </a:p>
          <a:p>
            <a:pPr algn="just"/>
            <a:r>
              <a:rPr lang="es-MX" b="1" i="0" dirty="0">
                <a:effectLst/>
                <a:latin typeface="Bahnschrift" panose="020B0502040204020203" pitchFamily="34" charset="0"/>
              </a:rPr>
              <a:t>Carga y Limpieza de Datos</a:t>
            </a:r>
            <a:r>
              <a:rPr lang="es-MX" b="0" i="0" dirty="0">
                <a:effectLst/>
                <a:latin typeface="Bahnschrift" panose="020B0502040204020203" pitchFamily="34" charset="0"/>
              </a:rPr>
              <a:t>: Los datos fueron cargados en </a:t>
            </a:r>
            <a:r>
              <a:rPr lang="es-MX" b="1" i="0" dirty="0">
                <a:effectLst/>
                <a:latin typeface="Bahnschrift" panose="020B0502040204020203" pitchFamily="34" charset="0"/>
              </a:rPr>
              <a:t>Pandas</a:t>
            </a:r>
            <a:r>
              <a:rPr lang="es-MX" b="0" i="0" dirty="0">
                <a:effectLst/>
                <a:latin typeface="Bahnschrift" panose="020B0502040204020203" pitchFamily="34" charset="0"/>
              </a:rPr>
              <a:t> desde archivos CSV y Excel. </a:t>
            </a:r>
          </a:p>
          <a:p>
            <a:pPr algn="just"/>
            <a:r>
              <a:rPr lang="es-MX" b="0" i="0" dirty="0">
                <a:effectLst/>
                <a:latin typeface="Bahnschrift" panose="020B0502040204020203" pitchFamily="34" charset="0"/>
              </a:rPr>
              <a:t>Se realizó una limpieza exhaustiva para manejar valores nulos, eliminar duplicados y </a:t>
            </a:r>
          </a:p>
          <a:p>
            <a:pPr algn="just"/>
            <a:r>
              <a:rPr lang="es-MX" b="0" i="0" dirty="0">
                <a:effectLst/>
                <a:latin typeface="Bahnschrift" panose="020B0502040204020203" pitchFamily="34" charset="0"/>
              </a:rPr>
              <a:t>corregir inconsistencias en los datos.</a:t>
            </a:r>
          </a:p>
          <a:p>
            <a:pPr algn="just"/>
            <a:endParaRPr lang="es-MX" dirty="0"/>
          </a:p>
        </p:txBody>
      </p:sp>
      <p:pic>
        <p:nvPicPr>
          <p:cNvPr id="4" name="Imagen 3">
            <a:extLst>
              <a:ext uri="{FF2B5EF4-FFF2-40B4-BE49-F238E27FC236}">
                <a16:creationId xmlns:a16="http://schemas.microsoft.com/office/drawing/2014/main" id="{9B01FBD7-5460-3D8B-79F6-0A21818D1E9E}"/>
              </a:ext>
            </a:extLst>
          </p:cNvPr>
          <p:cNvPicPr>
            <a:picLocks noChangeAspect="1"/>
          </p:cNvPicPr>
          <p:nvPr/>
        </p:nvPicPr>
        <p:blipFill>
          <a:blip r:embed="rId2"/>
          <a:srcRect l="-1" r="44376"/>
          <a:stretch/>
        </p:blipFill>
        <p:spPr>
          <a:xfrm>
            <a:off x="6210417" y="2389494"/>
            <a:ext cx="4950994" cy="1193385"/>
          </a:xfrm>
          <a:prstGeom prst="rect">
            <a:avLst/>
          </a:prstGeom>
        </p:spPr>
      </p:pic>
      <p:pic>
        <p:nvPicPr>
          <p:cNvPr id="6" name="Imagen 5">
            <a:extLst>
              <a:ext uri="{FF2B5EF4-FFF2-40B4-BE49-F238E27FC236}">
                <a16:creationId xmlns:a16="http://schemas.microsoft.com/office/drawing/2014/main" id="{8A6E65BC-D9A0-6973-F298-18F32DEEF048}"/>
              </a:ext>
            </a:extLst>
          </p:cNvPr>
          <p:cNvPicPr>
            <a:picLocks noChangeAspect="1"/>
          </p:cNvPicPr>
          <p:nvPr/>
        </p:nvPicPr>
        <p:blipFill>
          <a:blip r:embed="rId2"/>
          <a:srcRect l="98820" r="53"/>
          <a:stretch/>
        </p:blipFill>
        <p:spPr>
          <a:xfrm>
            <a:off x="11163680" y="2389490"/>
            <a:ext cx="100266" cy="1193389"/>
          </a:xfrm>
          <a:prstGeom prst="rect">
            <a:avLst/>
          </a:prstGeom>
        </p:spPr>
      </p:pic>
      <p:pic>
        <p:nvPicPr>
          <p:cNvPr id="10" name="Imagen 9">
            <a:extLst>
              <a:ext uri="{FF2B5EF4-FFF2-40B4-BE49-F238E27FC236}">
                <a16:creationId xmlns:a16="http://schemas.microsoft.com/office/drawing/2014/main" id="{7409F3E9-5F33-0EC9-A65B-69E74E353489}"/>
              </a:ext>
            </a:extLst>
          </p:cNvPr>
          <p:cNvPicPr>
            <a:picLocks noChangeAspect="1"/>
          </p:cNvPicPr>
          <p:nvPr/>
        </p:nvPicPr>
        <p:blipFill>
          <a:blip r:embed="rId3"/>
          <a:stretch>
            <a:fillRect/>
          </a:stretch>
        </p:blipFill>
        <p:spPr>
          <a:xfrm>
            <a:off x="504869" y="2065933"/>
            <a:ext cx="5549022" cy="4527699"/>
          </a:xfrm>
          <a:prstGeom prst="rect">
            <a:avLst/>
          </a:prstGeom>
        </p:spPr>
      </p:pic>
      <p:pic>
        <p:nvPicPr>
          <p:cNvPr id="5" name="Imagen 4">
            <a:extLst>
              <a:ext uri="{FF2B5EF4-FFF2-40B4-BE49-F238E27FC236}">
                <a16:creationId xmlns:a16="http://schemas.microsoft.com/office/drawing/2014/main" id="{4FDC8883-8FC2-5A07-45B8-8452112C9E6E}"/>
              </a:ext>
            </a:extLst>
          </p:cNvPr>
          <p:cNvPicPr>
            <a:picLocks noChangeAspect="1"/>
          </p:cNvPicPr>
          <p:nvPr/>
        </p:nvPicPr>
        <p:blipFill>
          <a:blip r:embed="rId4"/>
          <a:stretch>
            <a:fillRect/>
          </a:stretch>
        </p:blipFill>
        <p:spPr>
          <a:xfrm>
            <a:off x="4721812" y="4329782"/>
            <a:ext cx="3473276" cy="1904814"/>
          </a:xfrm>
          <a:prstGeom prst="rect">
            <a:avLst/>
          </a:prstGeom>
        </p:spPr>
      </p:pic>
      <p:pic>
        <p:nvPicPr>
          <p:cNvPr id="8" name="Imagen 7">
            <a:extLst>
              <a:ext uri="{FF2B5EF4-FFF2-40B4-BE49-F238E27FC236}">
                <a16:creationId xmlns:a16="http://schemas.microsoft.com/office/drawing/2014/main" id="{B2928A97-D140-BEF2-D6F8-484DEE247CBB}"/>
              </a:ext>
            </a:extLst>
          </p:cNvPr>
          <p:cNvPicPr>
            <a:picLocks noChangeAspect="1"/>
          </p:cNvPicPr>
          <p:nvPr/>
        </p:nvPicPr>
        <p:blipFill>
          <a:blip r:embed="rId5"/>
          <a:srcRect l="616" t="900" r="-1"/>
          <a:stretch/>
        </p:blipFill>
        <p:spPr>
          <a:xfrm>
            <a:off x="8195088" y="4329782"/>
            <a:ext cx="3757989" cy="1904814"/>
          </a:xfrm>
          <a:prstGeom prst="rect">
            <a:avLst/>
          </a:prstGeom>
        </p:spPr>
      </p:pic>
    </p:spTree>
    <p:extLst>
      <p:ext uri="{BB962C8B-B14F-4D97-AF65-F5344CB8AC3E}">
        <p14:creationId xmlns:p14="http://schemas.microsoft.com/office/powerpoint/2010/main" val="2437532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625B05E-89FB-C3C7-9880-49D368B37FDE}"/>
              </a:ext>
            </a:extLst>
          </p:cNvPr>
          <p:cNvSpPr txBox="1"/>
          <p:nvPr/>
        </p:nvSpPr>
        <p:spPr>
          <a:xfrm>
            <a:off x="1964748" y="334861"/>
            <a:ext cx="8262503" cy="923330"/>
          </a:xfrm>
          <a:prstGeom prst="rect">
            <a:avLst/>
          </a:prstGeom>
          <a:noFill/>
        </p:spPr>
        <p:txBody>
          <a:bodyPr wrap="square" rtlCol="0">
            <a:spAutoFit/>
          </a:bodyPr>
          <a:lstStyle/>
          <a:p>
            <a:pPr algn="just"/>
            <a:r>
              <a:rPr lang="es-MX" b="1" i="0" dirty="0">
                <a:effectLst/>
                <a:latin typeface="Bahnschrift" panose="020B0502040204020203" pitchFamily="34" charset="0"/>
              </a:rPr>
              <a:t>Transformaciones</a:t>
            </a:r>
            <a:r>
              <a:rPr lang="es-MX" b="0" i="0" dirty="0">
                <a:effectLst/>
                <a:latin typeface="Bahnschrift" panose="020B0502040204020203" pitchFamily="34" charset="0"/>
              </a:rPr>
              <a:t>: Se aplicaron transformaciones para normalizar los datos y estandarizar formatos de fechas y categorías.</a:t>
            </a:r>
          </a:p>
          <a:p>
            <a:pPr algn="just"/>
            <a:endParaRPr lang="es-MX" dirty="0">
              <a:latin typeface="Bahnschrift" panose="020B0502040204020203" pitchFamily="34" charset="0"/>
            </a:endParaRPr>
          </a:p>
        </p:txBody>
      </p:sp>
      <p:pic>
        <p:nvPicPr>
          <p:cNvPr id="6" name="Imagen 5">
            <a:extLst>
              <a:ext uri="{FF2B5EF4-FFF2-40B4-BE49-F238E27FC236}">
                <a16:creationId xmlns:a16="http://schemas.microsoft.com/office/drawing/2014/main" id="{10086C08-BF42-8156-6640-0E524D4B78ED}"/>
              </a:ext>
            </a:extLst>
          </p:cNvPr>
          <p:cNvPicPr>
            <a:picLocks noChangeAspect="1"/>
          </p:cNvPicPr>
          <p:nvPr/>
        </p:nvPicPr>
        <p:blipFill>
          <a:blip r:embed="rId2"/>
          <a:srcRect t="2494" r="41359"/>
          <a:stretch/>
        </p:blipFill>
        <p:spPr>
          <a:xfrm>
            <a:off x="1691478" y="1540487"/>
            <a:ext cx="4763464" cy="1606216"/>
          </a:xfrm>
          <a:prstGeom prst="rect">
            <a:avLst/>
          </a:prstGeom>
        </p:spPr>
      </p:pic>
      <p:pic>
        <p:nvPicPr>
          <p:cNvPr id="4" name="Imagen 3">
            <a:extLst>
              <a:ext uri="{FF2B5EF4-FFF2-40B4-BE49-F238E27FC236}">
                <a16:creationId xmlns:a16="http://schemas.microsoft.com/office/drawing/2014/main" id="{B2A7971A-C82C-F1E3-457B-0EC8A0E71FC7}"/>
              </a:ext>
            </a:extLst>
          </p:cNvPr>
          <p:cNvPicPr>
            <a:picLocks noChangeAspect="1"/>
          </p:cNvPicPr>
          <p:nvPr/>
        </p:nvPicPr>
        <p:blipFill>
          <a:blip r:embed="rId3"/>
          <a:stretch>
            <a:fillRect/>
          </a:stretch>
        </p:blipFill>
        <p:spPr>
          <a:xfrm>
            <a:off x="3086100" y="3429000"/>
            <a:ext cx="3009899" cy="2881564"/>
          </a:xfrm>
          <a:prstGeom prst="rect">
            <a:avLst/>
          </a:prstGeom>
        </p:spPr>
      </p:pic>
      <p:pic>
        <p:nvPicPr>
          <p:cNvPr id="5" name="Imagen 4">
            <a:extLst>
              <a:ext uri="{FF2B5EF4-FFF2-40B4-BE49-F238E27FC236}">
                <a16:creationId xmlns:a16="http://schemas.microsoft.com/office/drawing/2014/main" id="{A8FEF6A5-33C7-2DF4-481D-EDE8804B97C2}"/>
              </a:ext>
            </a:extLst>
          </p:cNvPr>
          <p:cNvPicPr>
            <a:picLocks noChangeAspect="1"/>
          </p:cNvPicPr>
          <p:nvPr/>
        </p:nvPicPr>
        <p:blipFill>
          <a:blip r:embed="rId4"/>
          <a:stretch>
            <a:fillRect/>
          </a:stretch>
        </p:blipFill>
        <p:spPr>
          <a:xfrm>
            <a:off x="6908726" y="1624264"/>
            <a:ext cx="1406504" cy="4686300"/>
          </a:xfrm>
          <a:prstGeom prst="rect">
            <a:avLst/>
          </a:prstGeom>
        </p:spPr>
      </p:pic>
    </p:spTree>
    <p:extLst>
      <p:ext uri="{BB962C8B-B14F-4D97-AF65-F5344CB8AC3E}">
        <p14:creationId xmlns:p14="http://schemas.microsoft.com/office/powerpoint/2010/main" val="1347643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5DF0EE2-AC97-4770-9D57-4A99787244E0}"/>
              </a:ext>
            </a:extLst>
          </p:cNvPr>
          <p:cNvSpPr txBox="1"/>
          <p:nvPr/>
        </p:nvSpPr>
        <p:spPr>
          <a:xfrm>
            <a:off x="956510" y="329574"/>
            <a:ext cx="10278979" cy="1200329"/>
          </a:xfrm>
          <a:prstGeom prst="rect">
            <a:avLst/>
          </a:prstGeom>
          <a:noFill/>
        </p:spPr>
        <p:txBody>
          <a:bodyPr wrap="square">
            <a:spAutoFit/>
          </a:bodyPr>
          <a:lstStyle/>
          <a:p>
            <a:pPr algn="just"/>
            <a:r>
              <a:rPr lang="es-MX" b="1" i="0" dirty="0">
                <a:effectLst/>
                <a:latin typeface="Bahnschrift" panose="020B0502040204020203" pitchFamily="34" charset="0"/>
              </a:rPr>
              <a:t> 3.Análisis Exploratorio de Datos (EDA) y Visualizaciones</a:t>
            </a:r>
          </a:p>
          <a:p>
            <a:pPr algn="just"/>
            <a:endParaRPr lang="es-MX" b="1" dirty="0">
              <a:solidFill>
                <a:srgbClr val="22053D"/>
              </a:solidFill>
              <a:latin typeface="Bahnschrift" panose="020B0502040204020203" pitchFamily="34" charset="0"/>
            </a:endParaRPr>
          </a:p>
          <a:p>
            <a:pPr algn="just"/>
            <a:r>
              <a:rPr lang="es-MX" dirty="0">
                <a:latin typeface="Bahnschrift" panose="020B0502040204020203" pitchFamily="34" charset="0"/>
              </a:rPr>
              <a:t>Visualización de la Distribución de Ventas: Se crearon histogramas y boxplots para visualizar la distribución de ventas por categoría de producto y región.</a:t>
            </a:r>
          </a:p>
        </p:txBody>
      </p:sp>
      <p:pic>
        <p:nvPicPr>
          <p:cNvPr id="4" name="Imagen 3">
            <a:extLst>
              <a:ext uri="{FF2B5EF4-FFF2-40B4-BE49-F238E27FC236}">
                <a16:creationId xmlns:a16="http://schemas.microsoft.com/office/drawing/2014/main" id="{F0064440-6F6B-E604-3AF2-0EC184C6D13D}"/>
              </a:ext>
            </a:extLst>
          </p:cNvPr>
          <p:cNvPicPr>
            <a:picLocks noChangeAspect="1"/>
          </p:cNvPicPr>
          <p:nvPr/>
        </p:nvPicPr>
        <p:blipFill>
          <a:blip r:embed="rId2"/>
          <a:stretch>
            <a:fillRect/>
          </a:stretch>
        </p:blipFill>
        <p:spPr>
          <a:xfrm>
            <a:off x="2502568" y="1714971"/>
            <a:ext cx="6507058" cy="2090035"/>
          </a:xfrm>
          <a:prstGeom prst="rect">
            <a:avLst/>
          </a:prstGeom>
        </p:spPr>
      </p:pic>
      <p:pic>
        <p:nvPicPr>
          <p:cNvPr id="7" name="Imagen 6">
            <a:extLst>
              <a:ext uri="{FF2B5EF4-FFF2-40B4-BE49-F238E27FC236}">
                <a16:creationId xmlns:a16="http://schemas.microsoft.com/office/drawing/2014/main" id="{B75311B7-7BD1-C253-61F2-B4A12473CFB8}"/>
              </a:ext>
            </a:extLst>
          </p:cNvPr>
          <p:cNvPicPr>
            <a:picLocks noChangeAspect="1"/>
          </p:cNvPicPr>
          <p:nvPr/>
        </p:nvPicPr>
        <p:blipFill>
          <a:blip r:embed="rId3"/>
          <a:srcRect t="49504"/>
          <a:stretch/>
        </p:blipFill>
        <p:spPr>
          <a:xfrm>
            <a:off x="288757" y="3933314"/>
            <a:ext cx="5402179" cy="2595112"/>
          </a:xfrm>
          <a:prstGeom prst="rect">
            <a:avLst/>
          </a:prstGeom>
        </p:spPr>
      </p:pic>
      <p:pic>
        <p:nvPicPr>
          <p:cNvPr id="9" name="Imagen 8">
            <a:extLst>
              <a:ext uri="{FF2B5EF4-FFF2-40B4-BE49-F238E27FC236}">
                <a16:creationId xmlns:a16="http://schemas.microsoft.com/office/drawing/2014/main" id="{57B6E7CD-CEE7-44E5-6E7A-EBF728BFCE6F}"/>
              </a:ext>
            </a:extLst>
          </p:cNvPr>
          <p:cNvPicPr>
            <a:picLocks noChangeAspect="1"/>
          </p:cNvPicPr>
          <p:nvPr/>
        </p:nvPicPr>
        <p:blipFill>
          <a:blip r:embed="rId4"/>
          <a:stretch>
            <a:fillRect/>
          </a:stretch>
        </p:blipFill>
        <p:spPr>
          <a:xfrm>
            <a:off x="5981699" y="3933314"/>
            <a:ext cx="6010337" cy="2595112"/>
          </a:xfrm>
          <a:prstGeom prst="rect">
            <a:avLst/>
          </a:prstGeom>
        </p:spPr>
      </p:pic>
      <p:pic>
        <p:nvPicPr>
          <p:cNvPr id="11" name="Imagen 10">
            <a:extLst>
              <a:ext uri="{FF2B5EF4-FFF2-40B4-BE49-F238E27FC236}">
                <a16:creationId xmlns:a16="http://schemas.microsoft.com/office/drawing/2014/main" id="{4F4C93D8-C977-DEEA-2E47-8D3BD7BBD9BA}"/>
              </a:ext>
            </a:extLst>
          </p:cNvPr>
          <p:cNvPicPr>
            <a:picLocks noChangeAspect="1"/>
          </p:cNvPicPr>
          <p:nvPr/>
        </p:nvPicPr>
        <p:blipFill>
          <a:blip r:embed="rId5"/>
          <a:stretch>
            <a:fillRect/>
          </a:stretch>
        </p:blipFill>
        <p:spPr>
          <a:xfrm>
            <a:off x="5981699" y="3867889"/>
            <a:ext cx="1914792" cy="181000"/>
          </a:xfrm>
          <a:prstGeom prst="rect">
            <a:avLst/>
          </a:prstGeom>
        </p:spPr>
      </p:pic>
      <p:pic>
        <p:nvPicPr>
          <p:cNvPr id="13" name="Imagen 12">
            <a:extLst>
              <a:ext uri="{FF2B5EF4-FFF2-40B4-BE49-F238E27FC236}">
                <a16:creationId xmlns:a16="http://schemas.microsoft.com/office/drawing/2014/main" id="{4463D16B-2B6C-3808-60B5-D1DB739CA917}"/>
              </a:ext>
            </a:extLst>
          </p:cNvPr>
          <p:cNvPicPr>
            <a:picLocks noChangeAspect="1"/>
          </p:cNvPicPr>
          <p:nvPr/>
        </p:nvPicPr>
        <p:blipFill>
          <a:blip r:embed="rId6"/>
          <a:stretch>
            <a:fillRect/>
          </a:stretch>
        </p:blipFill>
        <p:spPr>
          <a:xfrm>
            <a:off x="288757" y="3867889"/>
            <a:ext cx="1800476" cy="181000"/>
          </a:xfrm>
          <a:prstGeom prst="rect">
            <a:avLst/>
          </a:prstGeom>
        </p:spPr>
      </p:pic>
    </p:spTree>
    <p:extLst>
      <p:ext uri="{BB962C8B-B14F-4D97-AF65-F5344CB8AC3E}">
        <p14:creationId xmlns:p14="http://schemas.microsoft.com/office/powerpoint/2010/main" val="4193744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7257EAF-C443-0D4E-05F8-79AEB8C36F09}"/>
              </a:ext>
            </a:extLst>
          </p:cNvPr>
          <p:cNvSpPr txBox="1"/>
          <p:nvPr/>
        </p:nvSpPr>
        <p:spPr>
          <a:xfrm>
            <a:off x="1545055" y="464767"/>
            <a:ext cx="9101889" cy="646331"/>
          </a:xfrm>
          <a:prstGeom prst="rect">
            <a:avLst/>
          </a:prstGeom>
          <a:noFill/>
        </p:spPr>
        <p:txBody>
          <a:bodyPr wrap="square">
            <a:spAutoFit/>
          </a:bodyPr>
          <a:lstStyle/>
          <a:p>
            <a:pPr algn="just"/>
            <a:r>
              <a:rPr lang="es-MX" b="1" dirty="0">
                <a:latin typeface="Bahnschrift" panose="020B0502040204020203" pitchFamily="34" charset="0"/>
              </a:rPr>
              <a:t>Análisis de Tendencias: </a:t>
            </a:r>
            <a:r>
              <a:rPr lang="es-MX" dirty="0">
                <a:latin typeface="Bahnschrift" panose="020B0502040204020203" pitchFamily="34" charset="0"/>
              </a:rPr>
              <a:t>Gráficos de líneas permitieron observar tendencias de ventas en el tiempo, filtrando por categorías clave.</a:t>
            </a:r>
          </a:p>
        </p:txBody>
      </p:sp>
      <p:pic>
        <p:nvPicPr>
          <p:cNvPr id="8" name="Imagen 7">
            <a:extLst>
              <a:ext uri="{FF2B5EF4-FFF2-40B4-BE49-F238E27FC236}">
                <a16:creationId xmlns:a16="http://schemas.microsoft.com/office/drawing/2014/main" id="{8455F767-AEE2-6D69-9092-160AE69C50A4}"/>
              </a:ext>
            </a:extLst>
          </p:cNvPr>
          <p:cNvPicPr>
            <a:picLocks noChangeAspect="1"/>
          </p:cNvPicPr>
          <p:nvPr/>
        </p:nvPicPr>
        <p:blipFill>
          <a:blip r:embed="rId2"/>
          <a:stretch>
            <a:fillRect/>
          </a:stretch>
        </p:blipFill>
        <p:spPr>
          <a:xfrm>
            <a:off x="656642" y="1992423"/>
            <a:ext cx="6479005" cy="2699892"/>
          </a:xfrm>
          <a:prstGeom prst="rect">
            <a:avLst/>
          </a:prstGeom>
        </p:spPr>
      </p:pic>
      <p:pic>
        <p:nvPicPr>
          <p:cNvPr id="6" name="Imagen 5">
            <a:extLst>
              <a:ext uri="{FF2B5EF4-FFF2-40B4-BE49-F238E27FC236}">
                <a16:creationId xmlns:a16="http://schemas.microsoft.com/office/drawing/2014/main" id="{B827E619-1497-7DE3-41C7-E744BDEAD49B}"/>
              </a:ext>
            </a:extLst>
          </p:cNvPr>
          <p:cNvPicPr>
            <a:picLocks noChangeAspect="1"/>
          </p:cNvPicPr>
          <p:nvPr/>
        </p:nvPicPr>
        <p:blipFill>
          <a:blip r:embed="rId3"/>
          <a:srcRect t="1063" r="93930"/>
          <a:stretch/>
        </p:blipFill>
        <p:spPr>
          <a:xfrm>
            <a:off x="6506382" y="4142218"/>
            <a:ext cx="377474" cy="2510047"/>
          </a:xfrm>
          <a:prstGeom prst="rect">
            <a:avLst/>
          </a:prstGeom>
        </p:spPr>
      </p:pic>
      <p:pic>
        <p:nvPicPr>
          <p:cNvPr id="5" name="Imagen 4">
            <a:extLst>
              <a:ext uri="{FF2B5EF4-FFF2-40B4-BE49-F238E27FC236}">
                <a16:creationId xmlns:a16="http://schemas.microsoft.com/office/drawing/2014/main" id="{89A9B0EE-F418-DA74-7B99-AE47B26EB655}"/>
              </a:ext>
            </a:extLst>
          </p:cNvPr>
          <p:cNvPicPr>
            <a:picLocks noChangeAspect="1"/>
          </p:cNvPicPr>
          <p:nvPr/>
        </p:nvPicPr>
        <p:blipFill>
          <a:blip r:embed="rId3"/>
          <a:srcRect l="52898" t="1063"/>
          <a:stretch/>
        </p:blipFill>
        <p:spPr>
          <a:xfrm>
            <a:off x="6883856" y="4142218"/>
            <a:ext cx="3221074" cy="2510045"/>
          </a:xfrm>
          <a:prstGeom prst="rect">
            <a:avLst/>
          </a:prstGeom>
        </p:spPr>
      </p:pic>
      <p:pic>
        <p:nvPicPr>
          <p:cNvPr id="4" name="Imagen 3">
            <a:extLst>
              <a:ext uri="{FF2B5EF4-FFF2-40B4-BE49-F238E27FC236}">
                <a16:creationId xmlns:a16="http://schemas.microsoft.com/office/drawing/2014/main" id="{8BECFD6E-031A-3453-858D-27DC40954AC0}"/>
              </a:ext>
            </a:extLst>
          </p:cNvPr>
          <p:cNvPicPr>
            <a:picLocks noChangeAspect="1"/>
          </p:cNvPicPr>
          <p:nvPr/>
        </p:nvPicPr>
        <p:blipFill>
          <a:blip r:embed="rId3"/>
          <a:srcRect t="1063" r="47564"/>
          <a:stretch/>
        </p:blipFill>
        <p:spPr>
          <a:xfrm>
            <a:off x="6506382" y="1515979"/>
            <a:ext cx="3598548" cy="2461194"/>
          </a:xfrm>
          <a:prstGeom prst="rect">
            <a:avLst/>
          </a:prstGeom>
        </p:spPr>
      </p:pic>
    </p:spTree>
    <p:extLst>
      <p:ext uri="{BB962C8B-B14F-4D97-AF65-F5344CB8AC3E}">
        <p14:creationId xmlns:p14="http://schemas.microsoft.com/office/powerpoint/2010/main" val="34850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41BF541-7C65-CA84-1143-72DF38A272A3}"/>
              </a:ext>
            </a:extLst>
          </p:cNvPr>
          <p:cNvSpPr txBox="1"/>
          <p:nvPr/>
        </p:nvSpPr>
        <p:spPr>
          <a:xfrm>
            <a:off x="1259305" y="276726"/>
            <a:ext cx="9673389" cy="1785104"/>
          </a:xfrm>
          <a:prstGeom prst="rect">
            <a:avLst/>
          </a:prstGeom>
          <a:noFill/>
        </p:spPr>
        <p:txBody>
          <a:bodyPr wrap="square">
            <a:spAutoFit/>
          </a:bodyPr>
          <a:lstStyle/>
          <a:p>
            <a:pPr algn="just"/>
            <a:r>
              <a:rPr lang="es-MX" sz="2000" b="1" dirty="0">
                <a:latin typeface="Bahnschrift" panose="020B0502040204020203" pitchFamily="34" charset="0"/>
              </a:rPr>
              <a:t>4. Segmentación de Productos o Regiones con Clustering</a:t>
            </a:r>
          </a:p>
          <a:p>
            <a:pPr algn="just"/>
            <a:endParaRPr lang="es-MX" dirty="0">
              <a:latin typeface="Bahnschrift" panose="020B0502040204020203" pitchFamily="34" charset="0"/>
            </a:endParaRPr>
          </a:p>
          <a:p>
            <a:pPr algn="just"/>
            <a:r>
              <a:rPr lang="es-MX" b="1" i="0" dirty="0">
                <a:effectLst/>
                <a:latin typeface="Bahnschrift" panose="020B0502040204020203" pitchFamily="34" charset="0"/>
              </a:rPr>
              <a:t>Aplicación de Clustering con K-</a:t>
            </a:r>
            <a:r>
              <a:rPr lang="es-MX" b="1" i="0" dirty="0" err="1">
                <a:effectLst/>
                <a:latin typeface="Bahnschrift" panose="020B0502040204020203" pitchFamily="34" charset="0"/>
              </a:rPr>
              <a:t>Means</a:t>
            </a:r>
            <a:r>
              <a:rPr lang="es-MX" b="1" i="0" dirty="0">
                <a:effectLst/>
                <a:latin typeface="Bahnschrift" panose="020B0502040204020203" pitchFamily="34" charset="0"/>
              </a:rPr>
              <a:t>:</a:t>
            </a:r>
            <a:r>
              <a:rPr lang="es-MX" b="0" i="0" dirty="0">
                <a:effectLst/>
                <a:latin typeface="Bahnschrift" panose="020B0502040204020203" pitchFamily="34" charset="0"/>
              </a:rPr>
              <a:t> Se aplicó el algoritmo K-</a:t>
            </a:r>
            <a:r>
              <a:rPr lang="es-MX" b="0" i="0" dirty="0" err="1">
                <a:effectLst/>
                <a:latin typeface="Bahnschrift" panose="020B0502040204020203" pitchFamily="34" charset="0"/>
              </a:rPr>
              <a:t>Means</a:t>
            </a:r>
            <a:r>
              <a:rPr lang="es-MX" b="0" i="0" dirty="0">
                <a:effectLst/>
                <a:latin typeface="Bahnschrift" panose="020B0502040204020203" pitchFamily="34" charset="0"/>
              </a:rPr>
              <a:t> para segmentar los productos o regiones en función de características clave como ventas totales, categorías y regiones.</a:t>
            </a:r>
          </a:p>
          <a:p>
            <a:pPr algn="just"/>
            <a:endParaRPr lang="es-MX" dirty="0">
              <a:latin typeface="Bahnschrift" panose="020B0502040204020203" pitchFamily="34" charset="0"/>
            </a:endParaRPr>
          </a:p>
        </p:txBody>
      </p:sp>
      <p:pic>
        <p:nvPicPr>
          <p:cNvPr id="6" name="Imagen 5">
            <a:extLst>
              <a:ext uri="{FF2B5EF4-FFF2-40B4-BE49-F238E27FC236}">
                <a16:creationId xmlns:a16="http://schemas.microsoft.com/office/drawing/2014/main" id="{850DAB32-4E58-37FC-D655-20A448423A66}"/>
              </a:ext>
            </a:extLst>
          </p:cNvPr>
          <p:cNvPicPr>
            <a:picLocks noChangeAspect="1"/>
          </p:cNvPicPr>
          <p:nvPr/>
        </p:nvPicPr>
        <p:blipFill>
          <a:blip r:embed="rId2"/>
          <a:stretch>
            <a:fillRect/>
          </a:stretch>
        </p:blipFill>
        <p:spPr>
          <a:xfrm>
            <a:off x="996453" y="4271211"/>
            <a:ext cx="4705575" cy="1765538"/>
          </a:xfrm>
          <a:prstGeom prst="rect">
            <a:avLst/>
          </a:prstGeom>
        </p:spPr>
      </p:pic>
      <p:pic>
        <p:nvPicPr>
          <p:cNvPr id="10" name="Imagen 9">
            <a:extLst>
              <a:ext uri="{FF2B5EF4-FFF2-40B4-BE49-F238E27FC236}">
                <a16:creationId xmlns:a16="http://schemas.microsoft.com/office/drawing/2014/main" id="{3AA98DC0-5E54-9DE4-C631-31360A2ADA54}"/>
              </a:ext>
            </a:extLst>
          </p:cNvPr>
          <p:cNvPicPr>
            <a:picLocks noChangeAspect="1"/>
          </p:cNvPicPr>
          <p:nvPr/>
        </p:nvPicPr>
        <p:blipFill>
          <a:blip r:embed="rId3"/>
          <a:stretch>
            <a:fillRect/>
          </a:stretch>
        </p:blipFill>
        <p:spPr>
          <a:xfrm>
            <a:off x="534795" y="2185469"/>
            <a:ext cx="7616601" cy="1962103"/>
          </a:xfrm>
          <a:prstGeom prst="rect">
            <a:avLst/>
          </a:prstGeom>
        </p:spPr>
      </p:pic>
      <p:pic>
        <p:nvPicPr>
          <p:cNvPr id="4" name="Imagen 3">
            <a:extLst>
              <a:ext uri="{FF2B5EF4-FFF2-40B4-BE49-F238E27FC236}">
                <a16:creationId xmlns:a16="http://schemas.microsoft.com/office/drawing/2014/main" id="{4E7A1F07-425D-7DA1-CCC4-73E11D1BA2FA}"/>
              </a:ext>
            </a:extLst>
          </p:cNvPr>
          <p:cNvPicPr>
            <a:picLocks noChangeAspect="1"/>
          </p:cNvPicPr>
          <p:nvPr/>
        </p:nvPicPr>
        <p:blipFill>
          <a:blip r:embed="rId4"/>
          <a:stretch>
            <a:fillRect/>
          </a:stretch>
        </p:blipFill>
        <p:spPr>
          <a:xfrm>
            <a:off x="7092616" y="3429000"/>
            <a:ext cx="4520621" cy="3069046"/>
          </a:xfrm>
          <a:prstGeom prst="rect">
            <a:avLst/>
          </a:prstGeom>
        </p:spPr>
      </p:pic>
    </p:spTree>
    <p:extLst>
      <p:ext uri="{BB962C8B-B14F-4D97-AF65-F5344CB8AC3E}">
        <p14:creationId xmlns:p14="http://schemas.microsoft.com/office/powerpoint/2010/main" val="4000762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B2C106F-A91C-CFA2-4D72-BDB26F4C325F}"/>
              </a:ext>
            </a:extLst>
          </p:cNvPr>
          <p:cNvSpPr txBox="1"/>
          <p:nvPr/>
        </p:nvSpPr>
        <p:spPr>
          <a:xfrm>
            <a:off x="1782679" y="447937"/>
            <a:ext cx="8626642" cy="646331"/>
          </a:xfrm>
          <a:prstGeom prst="rect">
            <a:avLst/>
          </a:prstGeom>
          <a:noFill/>
        </p:spPr>
        <p:txBody>
          <a:bodyPr wrap="square">
            <a:spAutoFit/>
          </a:bodyPr>
          <a:lstStyle/>
          <a:p>
            <a:pPr algn="just"/>
            <a:r>
              <a:rPr lang="es-MX" dirty="0">
                <a:latin typeface="Bahnschrift" panose="020B0502040204020203" pitchFamily="34" charset="0"/>
              </a:rPr>
              <a:t>Número Óptimo de Clústeres: Se utilizó el método del codo para determinar el número óptimo de clústeres, logrando identificar patrones de rendimiento.</a:t>
            </a:r>
          </a:p>
        </p:txBody>
      </p:sp>
      <p:pic>
        <p:nvPicPr>
          <p:cNvPr id="4" name="Imagen 3">
            <a:extLst>
              <a:ext uri="{FF2B5EF4-FFF2-40B4-BE49-F238E27FC236}">
                <a16:creationId xmlns:a16="http://schemas.microsoft.com/office/drawing/2014/main" id="{E58A31B4-7C3C-57B6-FC80-94C905253FA8}"/>
              </a:ext>
            </a:extLst>
          </p:cNvPr>
          <p:cNvPicPr>
            <a:picLocks noChangeAspect="1"/>
          </p:cNvPicPr>
          <p:nvPr/>
        </p:nvPicPr>
        <p:blipFill>
          <a:blip r:embed="rId2"/>
          <a:stretch>
            <a:fillRect/>
          </a:stretch>
        </p:blipFill>
        <p:spPr>
          <a:xfrm>
            <a:off x="567693" y="1614714"/>
            <a:ext cx="5568413" cy="3871685"/>
          </a:xfrm>
          <a:prstGeom prst="rect">
            <a:avLst/>
          </a:prstGeom>
        </p:spPr>
      </p:pic>
      <p:pic>
        <p:nvPicPr>
          <p:cNvPr id="6" name="Imagen 5">
            <a:extLst>
              <a:ext uri="{FF2B5EF4-FFF2-40B4-BE49-F238E27FC236}">
                <a16:creationId xmlns:a16="http://schemas.microsoft.com/office/drawing/2014/main" id="{602E8CB8-A27E-2B97-6113-B02780285260}"/>
              </a:ext>
            </a:extLst>
          </p:cNvPr>
          <p:cNvPicPr>
            <a:picLocks noChangeAspect="1"/>
          </p:cNvPicPr>
          <p:nvPr/>
        </p:nvPicPr>
        <p:blipFill>
          <a:blip r:embed="rId3"/>
          <a:stretch>
            <a:fillRect/>
          </a:stretch>
        </p:blipFill>
        <p:spPr>
          <a:xfrm>
            <a:off x="6721489" y="2854647"/>
            <a:ext cx="5023824" cy="3210397"/>
          </a:xfrm>
          <a:prstGeom prst="rect">
            <a:avLst/>
          </a:prstGeom>
        </p:spPr>
      </p:pic>
      <p:pic>
        <p:nvPicPr>
          <p:cNvPr id="8" name="Imagen 7">
            <a:extLst>
              <a:ext uri="{FF2B5EF4-FFF2-40B4-BE49-F238E27FC236}">
                <a16:creationId xmlns:a16="http://schemas.microsoft.com/office/drawing/2014/main" id="{319BED90-AE77-239D-A96A-1188B3666AF4}"/>
              </a:ext>
            </a:extLst>
          </p:cNvPr>
          <p:cNvPicPr>
            <a:picLocks noChangeAspect="1"/>
          </p:cNvPicPr>
          <p:nvPr/>
        </p:nvPicPr>
        <p:blipFill>
          <a:blip r:embed="rId4"/>
          <a:stretch>
            <a:fillRect/>
          </a:stretch>
        </p:blipFill>
        <p:spPr>
          <a:xfrm>
            <a:off x="6721489" y="1346710"/>
            <a:ext cx="5023824" cy="1255495"/>
          </a:xfrm>
          <a:prstGeom prst="rect">
            <a:avLst/>
          </a:prstGeom>
        </p:spPr>
      </p:pic>
    </p:spTree>
    <p:extLst>
      <p:ext uri="{BB962C8B-B14F-4D97-AF65-F5344CB8AC3E}">
        <p14:creationId xmlns:p14="http://schemas.microsoft.com/office/powerpoint/2010/main" val="1795446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C0C7D73-68E3-9798-6666-7F3DA05A4292}"/>
              </a:ext>
            </a:extLst>
          </p:cNvPr>
          <p:cNvSpPr txBox="1"/>
          <p:nvPr/>
        </p:nvSpPr>
        <p:spPr>
          <a:xfrm>
            <a:off x="1759618" y="427121"/>
            <a:ext cx="8672763" cy="646331"/>
          </a:xfrm>
          <a:prstGeom prst="rect">
            <a:avLst/>
          </a:prstGeom>
          <a:noFill/>
        </p:spPr>
        <p:txBody>
          <a:bodyPr wrap="square">
            <a:spAutoFit/>
          </a:bodyPr>
          <a:lstStyle/>
          <a:p>
            <a:pPr algn="just"/>
            <a:r>
              <a:rPr lang="es-MX" b="1" dirty="0">
                <a:latin typeface="Bahnschrift" panose="020B0502040204020203" pitchFamily="34" charset="0"/>
              </a:rPr>
              <a:t>Interpretación de los Clústeres: </a:t>
            </a:r>
            <a:r>
              <a:rPr lang="es-MX" dirty="0">
                <a:latin typeface="Bahnschrift" panose="020B0502040204020203" pitchFamily="34" charset="0"/>
              </a:rPr>
              <a:t>Se analizó cada clúster para identificar áreas de alto rendimiento y segmentos con oportunidades de mejora.</a:t>
            </a:r>
          </a:p>
        </p:txBody>
      </p:sp>
      <p:pic>
        <p:nvPicPr>
          <p:cNvPr id="4" name="Imagen 3">
            <a:extLst>
              <a:ext uri="{FF2B5EF4-FFF2-40B4-BE49-F238E27FC236}">
                <a16:creationId xmlns:a16="http://schemas.microsoft.com/office/drawing/2014/main" id="{1D4FEEEE-FD1B-F125-54EB-C571D660922D}"/>
              </a:ext>
            </a:extLst>
          </p:cNvPr>
          <p:cNvPicPr>
            <a:picLocks noChangeAspect="1"/>
          </p:cNvPicPr>
          <p:nvPr/>
        </p:nvPicPr>
        <p:blipFill>
          <a:blip r:embed="rId2"/>
          <a:stretch>
            <a:fillRect/>
          </a:stretch>
        </p:blipFill>
        <p:spPr>
          <a:xfrm>
            <a:off x="1308666" y="1581679"/>
            <a:ext cx="9574666" cy="4104582"/>
          </a:xfrm>
          <a:prstGeom prst="rect">
            <a:avLst/>
          </a:prstGeom>
        </p:spPr>
      </p:pic>
    </p:spTree>
    <p:extLst>
      <p:ext uri="{BB962C8B-B14F-4D97-AF65-F5344CB8AC3E}">
        <p14:creationId xmlns:p14="http://schemas.microsoft.com/office/powerpoint/2010/main" val="612075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85B1EFB-3B99-7893-BCBE-A207AA532E15}"/>
              </a:ext>
            </a:extLst>
          </p:cNvPr>
          <p:cNvSpPr txBox="1"/>
          <p:nvPr/>
        </p:nvSpPr>
        <p:spPr>
          <a:xfrm>
            <a:off x="2140618" y="435822"/>
            <a:ext cx="7910763" cy="923330"/>
          </a:xfrm>
          <a:prstGeom prst="rect">
            <a:avLst/>
          </a:prstGeom>
          <a:noFill/>
        </p:spPr>
        <p:txBody>
          <a:bodyPr wrap="square">
            <a:spAutoFit/>
          </a:bodyPr>
          <a:lstStyle/>
          <a:p>
            <a:pPr algn="just"/>
            <a:r>
              <a:rPr lang="es-MX" b="1" dirty="0">
                <a:latin typeface="Bahnschrift" panose="020B0502040204020203" pitchFamily="34" charset="0"/>
              </a:rPr>
              <a:t>Visualizaciones de Clústeres: </a:t>
            </a:r>
            <a:r>
              <a:rPr lang="es-MX" dirty="0">
                <a:latin typeface="Bahnschrift" panose="020B0502040204020203" pitchFamily="34" charset="0"/>
              </a:rPr>
              <a:t>Se generaron gráficos de dispersión para visualizar los clústeres y entender mejor las relaciones entre las diferentes variables.</a:t>
            </a:r>
          </a:p>
        </p:txBody>
      </p:sp>
      <p:pic>
        <p:nvPicPr>
          <p:cNvPr id="4" name="Imagen 3">
            <a:extLst>
              <a:ext uri="{FF2B5EF4-FFF2-40B4-BE49-F238E27FC236}">
                <a16:creationId xmlns:a16="http://schemas.microsoft.com/office/drawing/2014/main" id="{EF4AB3A1-83F0-4E2C-35A3-D2C09BFDE9D0}"/>
              </a:ext>
            </a:extLst>
          </p:cNvPr>
          <p:cNvPicPr>
            <a:picLocks noChangeAspect="1"/>
          </p:cNvPicPr>
          <p:nvPr/>
        </p:nvPicPr>
        <p:blipFill>
          <a:blip r:embed="rId2"/>
          <a:stretch>
            <a:fillRect/>
          </a:stretch>
        </p:blipFill>
        <p:spPr>
          <a:xfrm>
            <a:off x="7127949" y="3212430"/>
            <a:ext cx="4700219" cy="3048656"/>
          </a:xfrm>
          <a:prstGeom prst="rect">
            <a:avLst/>
          </a:prstGeom>
        </p:spPr>
      </p:pic>
      <p:pic>
        <p:nvPicPr>
          <p:cNvPr id="6" name="Imagen 5">
            <a:extLst>
              <a:ext uri="{FF2B5EF4-FFF2-40B4-BE49-F238E27FC236}">
                <a16:creationId xmlns:a16="http://schemas.microsoft.com/office/drawing/2014/main" id="{C1348946-07C7-0D1E-4257-9060A02E32BB}"/>
              </a:ext>
            </a:extLst>
          </p:cNvPr>
          <p:cNvPicPr>
            <a:picLocks noChangeAspect="1"/>
          </p:cNvPicPr>
          <p:nvPr/>
        </p:nvPicPr>
        <p:blipFill>
          <a:blip r:embed="rId3"/>
          <a:stretch>
            <a:fillRect/>
          </a:stretch>
        </p:blipFill>
        <p:spPr>
          <a:xfrm>
            <a:off x="631657" y="1597591"/>
            <a:ext cx="5153215" cy="2874997"/>
          </a:xfrm>
          <a:prstGeom prst="rect">
            <a:avLst/>
          </a:prstGeom>
        </p:spPr>
      </p:pic>
      <p:pic>
        <p:nvPicPr>
          <p:cNvPr id="8" name="Imagen 7">
            <a:extLst>
              <a:ext uri="{FF2B5EF4-FFF2-40B4-BE49-F238E27FC236}">
                <a16:creationId xmlns:a16="http://schemas.microsoft.com/office/drawing/2014/main" id="{A0FF5163-A5DD-EE9B-29CD-DCE2D4B4730A}"/>
              </a:ext>
            </a:extLst>
          </p:cNvPr>
          <p:cNvPicPr>
            <a:picLocks noChangeAspect="1"/>
          </p:cNvPicPr>
          <p:nvPr/>
        </p:nvPicPr>
        <p:blipFill>
          <a:blip r:embed="rId4"/>
          <a:stretch>
            <a:fillRect/>
          </a:stretch>
        </p:blipFill>
        <p:spPr>
          <a:xfrm>
            <a:off x="1251284" y="4516375"/>
            <a:ext cx="3741523" cy="2143104"/>
          </a:xfrm>
          <a:prstGeom prst="rect">
            <a:avLst/>
          </a:prstGeom>
        </p:spPr>
      </p:pic>
      <p:pic>
        <p:nvPicPr>
          <p:cNvPr id="10" name="Imagen 9">
            <a:extLst>
              <a:ext uri="{FF2B5EF4-FFF2-40B4-BE49-F238E27FC236}">
                <a16:creationId xmlns:a16="http://schemas.microsoft.com/office/drawing/2014/main" id="{5C5B37DD-C94F-540B-C1EF-84EA2F48876D}"/>
              </a:ext>
            </a:extLst>
          </p:cNvPr>
          <p:cNvPicPr>
            <a:picLocks noChangeAspect="1"/>
          </p:cNvPicPr>
          <p:nvPr/>
        </p:nvPicPr>
        <p:blipFill>
          <a:blip r:embed="rId5"/>
          <a:stretch>
            <a:fillRect/>
          </a:stretch>
        </p:blipFill>
        <p:spPr>
          <a:xfrm>
            <a:off x="7127949" y="1709130"/>
            <a:ext cx="4697300" cy="1208528"/>
          </a:xfrm>
          <a:prstGeom prst="rect">
            <a:avLst/>
          </a:prstGeom>
        </p:spPr>
      </p:pic>
    </p:spTree>
    <p:extLst>
      <p:ext uri="{BB962C8B-B14F-4D97-AF65-F5344CB8AC3E}">
        <p14:creationId xmlns:p14="http://schemas.microsoft.com/office/powerpoint/2010/main" val="391603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EF9666A-305E-00B7-8EFA-DF3F4F180B3F}"/>
              </a:ext>
            </a:extLst>
          </p:cNvPr>
          <p:cNvSpPr txBox="1"/>
          <p:nvPr/>
        </p:nvSpPr>
        <p:spPr>
          <a:xfrm>
            <a:off x="1581150" y="363142"/>
            <a:ext cx="9029700" cy="1508105"/>
          </a:xfrm>
          <a:prstGeom prst="rect">
            <a:avLst/>
          </a:prstGeom>
          <a:noFill/>
        </p:spPr>
        <p:txBody>
          <a:bodyPr wrap="square">
            <a:spAutoFit/>
          </a:bodyPr>
          <a:lstStyle/>
          <a:p>
            <a:pPr algn="just"/>
            <a:r>
              <a:rPr lang="es-MX" sz="2000" b="1" dirty="0">
                <a:latin typeface="Bahnschrift" panose="020B0502040204020203" pitchFamily="34" charset="0"/>
              </a:rPr>
              <a:t>5. Análisis de Datos con SQL</a:t>
            </a:r>
            <a:endParaRPr lang="es-MX" dirty="0">
              <a:latin typeface="Bahnschrift" panose="020B0502040204020203" pitchFamily="34" charset="0"/>
            </a:endParaRPr>
          </a:p>
          <a:p>
            <a:pPr algn="just"/>
            <a:r>
              <a:rPr lang="es-MX" b="1" i="0" dirty="0">
                <a:effectLst/>
                <a:latin typeface="Bahnschrift" panose="020B0502040204020203" pitchFamily="34" charset="0"/>
              </a:rPr>
              <a:t>Creación de la Base de Datos</a:t>
            </a:r>
            <a:r>
              <a:rPr lang="es-MX" b="0" i="0" dirty="0">
                <a:effectLst/>
                <a:latin typeface="Bahnschrift" panose="020B0502040204020203" pitchFamily="34" charset="0"/>
              </a:rPr>
              <a:t>: La base de datos fue diseñada e implementada en </a:t>
            </a:r>
            <a:r>
              <a:rPr lang="es-MX" b="1" i="0" dirty="0">
                <a:effectLst/>
                <a:latin typeface="Bahnschrift" panose="020B0502040204020203" pitchFamily="34" charset="0"/>
              </a:rPr>
              <a:t>SQL Server</a:t>
            </a:r>
            <a:r>
              <a:rPr lang="es-MX" b="0" i="0" dirty="0">
                <a:effectLst/>
                <a:latin typeface="Bahnschrift" panose="020B0502040204020203" pitchFamily="34" charset="0"/>
              </a:rPr>
              <a:t> utilizando las tablas de ventas proporcionadas (</a:t>
            </a:r>
            <a:r>
              <a:rPr lang="es-MX" b="1" i="0" dirty="0">
                <a:effectLst/>
                <a:latin typeface="Bahnschrift" panose="020B0502040204020203" pitchFamily="34" charset="0"/>
              </a:rPr>
              <a:t>DIM_CATEGORY, DIM_PRODUCT, DIM_SEGMENT, DIM_CALENDAR, FACT_SALES</a:t>
            </a:r>
            <a:r>
              <a:rPr lang="es-MX" b="0" i="0" dirty="0">
                <a:effectLst/>
                <a:latin typeface="Bahnschrift" panose="020B0502040204020203" pitchFamily="34" charset="0"/>
              </a:rPr>
              <a:t>).</a:t>
            </a:r>
          </a:p>
          <a:p>
            <a:pPr algn="just"/>
            <a:endParaRPr lang="es-MX" dirty="0">
              <a:latin typeface="Bahnschrift" panose="020B0502040204020203" pitchFamily="34" charset="0"/>
            </a:endParaRPr>
          </a:p>
        </p:txBody>
      </p:sp>
      <p:pic>
        <p:nvPicPr>
          <p:cNvPr id="5" name="Imagen 4">
            <a:extLst>
              <a:ext uri="{FF2B5EF4-FFF2-40B4-BE49-F238E27FC236}">
                <a16:creationId xmlns:a16="http://schemas.microsoft.com/office/drawing/2014/main" id="{7E54B4E8-EF73-0897-038E-920EC060CFE2}"/>
              </a:ext>
            </a:extLst>
          </p:cNvPr>
          <p:cNvPicPr>
            <a:picLocks noChangeAspect="1"/>
          </p:cNvPicPr>
          <p:nvPr/>
        </p:nvPicPr>
        <p:blipFill>
          <a:blip r:embed="rId2"/>
          <a:stretch>
            <a:fillRect/>
          </a:stretch>
        </p:blipFill>
        <p:spPr>
          <a:xfrm>
            <a:off x="2488235" y="1841000"/>
            <a:ext cx="7071973" cy="560881"/>
          </a:xfrm>
          <a:prstGeom prst="rect">
            <a:avLst/>
          </a:prstGeom>
        </p:spPr>
      </p:pic>
      <p:pic>
        <p:nvPicPr>
          <p:cNvPr id="6" name="Imagen 5">
            <a:extLst>
              <a:ext uri="{FF2B5EF4-FFF2-40B4-BE49-F238E27FC236}">
                <a16:creationId xmlns:a16="http://schemas.microsoft.com/office/drawing/2014/main" id="{F7DAB59C-D391-7C78-D2E1-73CDE9150E5E}"/>
              </a:ext>
            </a:extLst>
          </p:cNvPr>
          <p:cNvPicPr>
            <a:picLocks noChangeAspect="1"/>
          </p:cNvPicPr>
          <p:nvPr/>
        </p:nvPicPr>
        <p:blipFill>
          <a:blip r:embed="rId3"/>
          <a:stretch>
            <a:fillRect/>
          </a:stretch>
        </p:blipFill>
        <p:spPr>
          <a:xfrm>
            <a:off x="656988" y="2580774"/>
            <a:ext cx="4968300" cy="3984751"/>
          </a:xfrm>
          <a:prstGeom prst="rect">
            <a:avLst/>
          </a:prstGeom>
        </p:spPr>
      </p:pic>
      <p:pic>
        <p:nvPicPr>
          <p:cNvPr id="7" name="Imagen 6">
            <a:extLst>
              <a:ext uri="{FF2B5EF4-FFF2-40B4-BE49-F238E27FC236}">
                <a16:creationId xmlns:a16="http://schemas.microsoft.com/office/drawing/2014/main" id="{B97DAB84-7F39-2F1C-D0AD-8F8E6851896C}"/>
              </a:ext>
            </a:extLst>
          </p:cNvPr>
          <p:cNvPicPr>
            <a:picLocks noChangeAspect="1"/>
          </p:cNvPicPr>
          <p:nvPr/>
        </p:nvPicPr>
        <p:blipFill>
          <a:blip r:embed="rId4"/>
          <a:stretch>
            <a:fillRect/>
          </a:stretch>
        </p:blipFill>
        <p:spPr>
          <a:xfrm>
            <a:off x="6352674" y="2580774"/>
            <a:ext cx="5338304" cy="2895704"/>
          </a:xfrm>
          <a:prstGeom prst="rect">
            <a:avLst/>
          </a:prstGeom>
        </p:spPr>
      </p:pic>
    </p:spTree>
    <p:extLst>
      <p:ext uri="{BB962C8B-B14F-4D97-AF65-F5344CB8AC3E}">
        <p14:creationId xmlns:p14="http://schemas.microsoft.com/office/powerpoint/2010/main" val="1442728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6D28AD3-8789-7513-9361-B9D4BD8A7A7C}"/>
              </a:ext>
            </a:extLst>
          </p:cNvPr>
          <p:cNvSpPr txBox="1"/>
          <p:nvPr/>
        </p:nvSpPr>
        <p:spPr>
          <a:xfrm>
            <a:off x="1335505" y="330564"/>
            <a:ext cx="8975558" cy="923330"/>
          </a:xfrm>
          <a:prstGeom prst="rect">
            <a:avLst/>
          </a:prstGeom>
          <a:noFill/>
        </p:spPr>
        <p:txBody>
          <a:bodyPr wrap="square">
            <a:spAutoFit/>
          </a:bodyPr>
          <a:lstStyle/>
          <a:p>
            <a:pPr algn="just"/>
            <a:r>
              <a:rPr lang="es-MX" b="1" dirty="0">
                <a:latin typeface="Bahnschrift" panose="020B0502040204020203" pitchFamily="34" charset="0"/>
              </a:rPr>
              <a:t>Consultas Clave: </a:t>
            </a:r>
            <a:r>
              <a:rPr lang="es-MX" dirty="0">
                <a:latin typeface="Bahnschrift" panose="020B0502040204020203" pitchFamily="34" charset="0"/>
              </a:rPr>
              <a:t>Se ejecutaron consultas básicas para verificar la correcta carga de datos y se realizaron uniones entre las tablas para obtener insights sobre las ventas por categoría y región.</a:t>
            </a:r>
          </a:p>
        </p:txBody>
      </p:sp>
      <p:pic>
        <p:nvPicPr>
          <p:cNvPr id="5" name="Imagen 4">
            <a:extLst>
              <a:ext uri="{FF2B5EF4-FFF2-40B4-BE49-F238E27FC236}">
                <a16:creationId xmlns:a16="http://schemas.microsoft.com/office/drawing/2014/main" id="{82E8A0EB-5FBC-69C3-CF19-5D83A8A181A4}"/>
              </a:ext>
            </a:extLst>
          </p:cNvPr>
          <p:cNvPicPr>
            <a:picLocks noChangeAspect="1"/>
          </p:cNvPicPr>
          <p:nvPr/>
        </p:nvPicPr>
        <p:blipFill>
          <a:blip r:embed="rId2"/>
          <a:stretch>
            <a:fillRect/>
          </a:stretch>
        </p:blipFill>
        <p:spPr>
          <a:xfrm>
            <a:off x="6942221" y="1487704"/>
            <a:ext cx="4503414" cy="898647"/>
          </a:xfrm>
          <a:prstGeom prst="rect">
            <a:avLst/>
          </a:prstGeom>
        </p:spPr>
      </p:pic>
      <p:pic>
        <p:nvPicPr>
          <p:cNvPr id="6" name="Imagen 5">
            <a:extLst>
              <a:ext uri="{FF2B5EF4-FFF2-40B4-BE49-F238E27FC236}">
                <a16:creationId xmlns:a16="http://schemas.microsoft.com/office/drawing/2014/main" id="{C239D904-3952-8379-97C5-294D7EDADE7D}"/>
              </a:ext>
            </a:extLst>
          </p:cNvPr>
          <p:cNvPicPr>
            <a:picLocks noChangeAspect="1"/>
          </p:cNvPicPr>
          <p:nvPr/>
        </p:nvPicPr>
        <p:blipFill>
          <a:blip r:embed="rId3"/>
          <a:stretch>
            <a:fillRect/>
          </a:stretch>
        </p:blipFill>
        <p:spPr>
          <a:xfrm>
            <a:off x="6942221" y="2386351"/>
            <a:ext cx="4503414" cy="3978201"/>
          </a:xfrm>
          <a:prstGeom prst="rect">
            <a:avLst/>
          </a:prstGeom>
        </p:spPr>
      </p:pic>
      <p:pic>
        <p:nvPicPr>
          <p:cNvPr id="7" name="Imagen 6">
            <a:extLst>
              <a:ext uri="{FF2B5EF4-FFF2-40B4-BE49-F238E27FC236}">
                <a16:creationId xmlns:a16="http://schemas.microsoft.com/office/drawing/2014/main" id="{97F22B36-AA5A-36B2-089F-43CE8D77DB57}"/>
              </a:ext>
            </a:extLst>
          </p:cNvPr>
          <p:cNvPicPr>
            <a:picLocks noChangeAspect="1"/>
          </p:cNvPicPr>
          <p:nvPr/>
        </p:nvPicPr>
        <p:blipFill>
          <a:blip r:embed="rId4"/>
          <a:stretch>
            <a:fillRect/>
          </a:stretch>
        </p:blipFill>
        <p:spPr>
          <a:xfrm>
            <a:off x="821845" y="4279024"/>
            <a:ext cx="1902262" cy="467620"/>
          </a:xfrm>
          <a:prstGeom prst="rect">
            <a:avLst/>
          </a:prstGeom>
        </p:spPr>
      </p:pic>
      <p:pic>
        <p:nvPicPr>
          <p:cNvPr id="8" name="Imagen 7">
            <a:extLst>
              <a:ext uri="{FF2B5EF4-FFF2-40B4-BE49-F238E27FC236}">
                <a16:creationId xmlns:a16="http://schemas.microsoft.com/office/drawing/2014/main" id="{FE6A4D88-9893-C96E-5C79-A9D339B47B48}"/>
              </a:ext>
            </a:extLst>
          </p:cNvPr>
          <p:cNvPicPr>
            <a:picLocks noChangeAspect="1"/>
          </p:cNvPicPr>
          <p:nvPr/>
        </p:nvPicPr>
        <p:blipFill>
          <a:blip r:embed="rId5"/>
          <a:srcRect b="11871"/>
          <a:stretch/>
        </p:blipFill>
        <p:spPr>
          <a:xfrm>
            <a:off x="821845" y="4746644"/>
            <a:ext cx="4947773" cy="1617908"/>
          </a:xfrm>
          <a:prstGeom prst="rect">
            <a:avLst/>
          </a:prstGeom>
        </p:spPr>
      </p:pic>
      <p:pic>
        <p:nvPicPr>
          <p:cNvPr id="9" name="Imagen 8">
            <a:extLst>
              <a:ext uri="{FF2B5EF4-FFF2-40B4-BE49-F238E27FC236}">
                <a16:creationId xmlns:a16="http://schemas.microsoft.com/office/drawing/2014/main" id="{91E694B2-C1D0-1D90-2EC4-5FCF305FA4EC}"/>
              </a:ext>
            </a:extLst>
          </p:cNvPr>
          <p:cNvPicPr>
            <a:picLocks noChangeAspect="1"/>
          </p:cNvPicPr>
          <p:nvPr/>
        </p:nvPicPr>
        <p:blipFill>
          <a:blip r:embed="rId6"/>
          <a:stretch>
            <a:fillRect/>
          </a:stretch>
        </p:blipFill>
        <p:spPr>
          <a:xfrm>
            <a:off x="821845" y="1617170"/>
            <a:ext cx="1790294" cy="455159"/>
          </a:xfrm>
          <a:prstGeom prst="rect">
            <a:avLst/>
          </a:prstGeom>
        </p:spPr>
      </p:pic>
      <p:pic>
        <p:nvPicPr>
          <p:cNvPr id="10" name="Imagen 9">
            <a:extLst>
              <a:ext uri="{FF2B5EF4-FFF2-40B4-BE49-F238E27FC236}">
                <a16:creationId xmlns:a16="http://schemas.microsoft.com/office/drawing/2014/main" id="{EDD02D9C-7045-29C7-C219-F2A4384D8026}"/>
              </a:ext>
            </a:extLst>
          </p:cNvPr>
          <p:cNvPicPr>
            <a:picLocks noChangeAspect="1"/>
          </p:cNvPicPr>
          <p:nvPr/>
        </p:nvPicPr>
        <p:blipFill>
          <a:blip r:embed="rId7"/>
          <a:srcRect b="8449"/>
          <a:stretch/>
        </p:blipFill>
        <p:spPr>
          <a:xfrm>
            <a:off x="827861" y="2080765"/>
            <a:ext cx="4824980" cy="1638150"/>
          </a:xfrm>
          <a:prstGeom prst="rect">
            <a:avLst/>
          </a:prstGeom>
        </p:spPr>
      </p:pic>
    </p:spTree>
    <p:extLst>
      <p:ext uri="{BB962C8B-B14F-4D97-AF65-F5344CB8AC3E}">
        <p14:creationId xmlns:p14="http://schemas.microsoft.com/office/powerpoint/2010/main" val="2575676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39740B5-CEBB-B518-7E18-FFF53C0D2620}"/>
              </a:ext>
            </a:extLst>
          </p:cNvPr>
          <p:cNvSpPr txBox="1"/>
          <p:nvPr/>
        </p:nvSpPr>
        <p:spPr>
          <a:xfrm>
            <a:off x="1548063" y="417933"/>
            <a:ext cx="9095874" cy="1508105"/>
          </a:xfrm>
          <a:prstGeom prst="rect">
            <a:avLst/>
          </a:prstGeom>
          <a:noFill/>
        </p:spPr>
        <p:txBody>
          <a:bodyPr wrap="square">
            <a:spAutoFit/>
          </a:bodyPr>
          <a:lstStyle/>
          <a:p>
            <a:r>
              <a:rPr lang="es-MX" sz="2000" b="1" dirty="0">
                <a:latin typeface="Bahnschrift" panose="020B0502040204020203" pitchFamily="34" charset="0"/>
              </a:rPr>
              <a:t>6. Creación de un Dashboard en </a:t>
            </a:r>
            <a:r>
              <a:rPr lang="es-MX" sz="2000" b="1" dirty="0" err="1">
                <a:latin typeface="Bahnschrift" panose="020B0502040204020203" pitchFamily="34" charset="0"/>
              </a:rPr>
              <a:t>PowerBI</a:t>
            </a:r>
            <a:endParaRPr lang="es-MX" sz="2000" b="1" dirty="0">
              <a:latin typeface="Bahnschrift" panose="020B0502040204020203" pitchFamily="34" charset="0"/>
            </a:endParaRPr>
          </a:p>
          <a:p>
            <a:r>
              <a:rPr lang="es-MX" dirty="0">
                <a:latin typeface="Bahnschrift" panose="020B0502040204020203" pitchFamily="34" charset="0"/>
              </a:rPr>
              <a:t>Estructura del Dashboard: El tablero incluye secciones clave como resumen de ventas, desempeño por categoría, y análisis geográfico. Las visualizaciones fueron diseñadas para ser interactivas, permitiendo a los usuarios explorar los datos mediante filtros.</a:t>
            </a:r>
          </a:p>
          <a:p>
            <a:endParaRPr lang="es-MX" dirty="0">
              <a:latin typeface="Bahnschrift" panose="020B0502040204020203" pitchFamily="34" charset="0"/>
            </a:endParaRPr>
          </a:p>
        </p:txBody>
      </p:sp>
      <p:pic>
        <p:nvPicPr>
          <p:cNvPr id="2" name="Imagen 1">
            <a:extLst>
              <a:ext uri="{FF2B5EF4-FFF2-40B4-BE49-F238E27FC236}">
                <a16:creationId xmlns:a16="http://schemas.microsoft.com/office/drawing/2014/main" id="{B215BB61-182F-0500-8999-79B72A59C7B3}"/>
              </a:ext>
            </a:extLst>
          </p:cNvPr>
          <p:cNvPicPr>
            <a:picLocks noChangeAspect="1"/>
          </p:cNvPicPr>
          <p:nvPr/>
        </p:nvPicPr>
        <p:blipFill>
          <a:blip r:embed="rId2"/>
          <a:stretch>
            <a:fillRect/>
          </a:stretch>
        </p:blipFill>
        <p:spPr>
          <a:xfrm>
            <a:off x="340813" y="2079995"/>
            <a:ext cx="5470754" cy="3070987"/>
          </a:xfrm>
          <a:prstGeom prst="rect">
            <a:avLst/>
          </a:prstGeom>
        </p:spPr>
      </p:pic>
      <p:pic>
        <p:nvPicPr>
          <p:cNvPr id="4" name="Imagen 3">
            <a:extLst>
              <a:ext uri="{FF2B5EF4-FFF2-40B4-BE49-F238E27FC236}">
                <a16:creationId xmlns:a16="http://schemas.microsoft.com/office/drawing/2014/main" id="{E6B6508C-E9AA-7076-8B0D-43CA01265539}"/>
              </a:ext>
            </a:extLst>
          </p:cNvPr>
          <p:cNvPicPr>
            <a:picLocks noChangeAspect="1"/>
          </p:cNvPicPr>
          <p:nvPr/>
        </p:nvPicPr>
        <p:blipFill>
          <a:blip r:embed="rId3"/>
          <a:stretch>
            <a:fillRect/>
          </a:stretch>
        </p:blipFill>
        <p:spPr>
          <a:xfrm>
            <a:off x="6236284" y="3282065"/>
            <a:ext cx="5614903" cy="3158002"/>
          </a:xfrm>
          <a:prstGeom prst="rect">
            <a:avLst/>
          </a:prstGeom>
        </p:spPr>
      </p:pic>
    </p:spTree>
    <p:extLst>
      <p:ext uri="{BB962C8B-B14F-4D97-AF65-F5344CB8AC3E}">
        <p14:creationId xmlns:p14="http://schemas.microsoft.com/office/powerpoint/2010/main" val="457322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09688909-6301-8BF2-F683-7E03F26D76B8}"/>
              </a:ext>
            </a:extLst>
          </p:cNvPr>
          <p:cNvSpPr txBox="1"/>
          <p:nvPr/>
        </p:nvSpPr>
        <p:spPr>
          <a:xfrm>
            <a:off x="895350" y="378484"/>
            <a:ext cx="10401300" cy="923330"/>
          </a:xfrm>
          <a:prstGeom prst="rect">
            <a:avLst/>
          </a:prstGeom>
          <a:noFill/>
        </p:spPr>
        <p:txBody>
          <a:bodyPr wrap="square">
            <a:spAutoFit/>
          </a:bodyPr>
          <a:lstStyle/>
          <a:p>
            <a:pPr algn="just"/>
            <a:r>
              <a:rPr lang="es-MX" b="1" dirty="0">
                <a:latin typeface="Bahnschrift" panose="020B0502040204020203" pitchFamily="34" charset="0"/>
              </a:rPr>
              <a:t>Visualizaciones Interactivas: </a:t>
            </a:r>
            <a:r>
              <a:rPr lang="es-MX" dirty="0">
                <a:latin typeface="Bahnschrift" panose="020B0502040204020203" pitchFamily="34" charset="0"/>
              </a:rPr>
              <a:t>Se utilizaron gráficos de barras, líneas, mapas y tablas dinámicas para representar los insights obtenidos. Los usuarios pueden filtrar los resultados por región, segmento y fechas.</a:t>
            </a:r>
          </a:p>
        </p:txBody>
      </p:sp>
      <p:pic>
        <p:nvPicPr>
          <p:cNvPr id="2" name="Imagen 1">
            <a:extLst>
              <a:ext uri="{FF2B5EF4-FFF2-40B4-BE49-F238E27FC236}">
                <a16:creationId xmlns:a16="http://schemas.microsoft.com/office/drawing/2014/main" id="{7C47364F-7E57-33CC-AF4A-A12714A0B077}"/>
              </a:ext>
            </a:extLst>
          </p:cNvPr>
          <p:cNvPicPr>
            <a:picLocks noChangeAspect="1"/>
          </p:cNvPicPr>
          <p:nvPr/>
        </p:nvPicPr>
        <p:blipFill>
          <a:blip r:embed="rId2"/>
          <a:stretch>
            <a:fillRect/>
          </a:stretch>
        </p:blipFill>
        <p:spPr>
          <a:xfrm>
            <a:off x="391328" y="1579424"/>
            <a:ext cx="5171272" cy="2908490"/>
          </a:xfrm>
          <a:prstGeom prst="rect">
            <a:avLst/>
          </a:prstGeom>
        </p:spPr>
      </p:pic>
      <p:pic>
        <p:nvPicPr>
          <p:cNvPr id="4" name="Imagen 3">
            <a:extLst>
              <a:ext uri="{FF2B5EF4-FFF2-40B4-BE49-F238E27FC236}">
                <a16:creationId xmlns:a16="http://schemas.microsoft.com/office/drawing/2014/main" id="{8891C216-8C4B-28F6-D8EC-4FF092F64E43}"/>
              </a:ext>
            </a:extLst>
          </p:cNvPr>
          <p:cNvPicPr>
            <a:picLocks noChangeAspect="1"/>
          </p:cNvPicPr>
          <p:nvPr/>
        </p:nvPicPr>
        <p:blipFill>
          <a:blip r:embed="rId3"/>
          <a:stretch>
            <a:fillRect/>
          </a:stretch>
        </p:blipFill>
        <p:spPr>
          <a:xfrm>
            <a:off x="6096000" y="2562910"/>
            <a:ext cx="5614903" cy="3151905"/>
          </a:xfrm>
          <a:prstGeom prst="rect">
            <a:avLst/>
          </a:prstGeom>
        </p:spPr>
      </p:pic>
      <p:sp>
        <p:nvSpPr>
          <p:cNvPr id="6" name="CuadroTexto 5">
            <a:extLst>
              <a:ext uri="{FF2B5EF4-FFF2-40B4-BE49-F238E27FC236}">
                <a16:creationId xmlns:a16="http://schemas.microsoft.com/office/drawing/2014/main" id="{72FF603D-0239-A627-7575-552CE7EA9FBC}"/>
              </a:ext>
            </a:extLst>
          </p:cNvPr>
          <p:cNvSpPr txBox="1"/>
          <p:nvPr/>
        </p:nvSpPr>
        <p:spPr>
          <a:xfrm>
            <a:off x="295083" y="4765525"/>
            <a:ext cx="4734117" cy="784830"/>
          </a:xfrm>
          <a:prstGeom prst="rect">
            <a:avLst/>
          </a:prstGeom>
          <a:noFill/>
        </p:spPr>
        <p:txBody>
          <a:bodyPr wrap="square">
            <a:spAutoFit/>
          </a:bodyPr>
          <a:lstStyle/>
          <a:p>
            <a:r>
              <a:rPr lang="es-MX" sz="1400" b="1" dirty="0">
                <a:latin typeface="Bahnschrift" panose="020B0502040204020203" pitchFamily="34" charset="0"/>
              </a:rPr>
              <a:t>Enlace al dashboard interactivo:</a:t>
            </a:r>
          </a:p>
          <a:p>
            <a:endParaRPr lang="es-MX" sz="700" b="1" dirty="0">
              <a:latin typeface="Bahnschrift" panose="020B0502040204020203" pitchFamily="34" charset="0"/>
            </a:endParaRPr>
          </a:p>
          <a:p>
            <a:r>
              <a:rPr lang="es-MX" sz="1200" dirty="0">
                <a:latin typeface="Bahnschrift" panose="020B0502040204020203" pitchFamily="34" charset="0"/>
              </a:rPr>
              <a:t>https://app.powerbi.com/groups/me/reports/54bf452b-8d25-4aaf-945af1da0a2e8a99/b3c0d6ecc0984e03287e?experience=power-bi </a:t>
            </a:r>
          </a:p>
        </p:txBody>
      </p:sp>
    </p:spTree>
    <p:extLst>
      <p:ext uri="{BB962C8B-B14F-4D97-AF65-F5344CB8AC3E}">
        <p14:creationId xmlns:p14="http://schemas.microsoft.com/office/powerpoint/2010/main" val="1752558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219A234-4DFA-3169-57D4-1AA4A9DF5D1F}"/>
              </a:ext>
            </a:extLst>
          </p:cNvPr>
          <p:cNvSpPr txBox="1"/>
          <p:nvPr/>
        </p:nvSpPr>
        <p:spPr>
          <a:xfrm>
            <a:off x="1033713" y="186490"/>
            <a:ext cx="10124574" cy="1477328"/>
          </a:xfrm>
          <a:prstGeom prst="rect">
            <a:avLst/>
          </a:prstGeom>
          <a:noFill/>
        </p:spPr>
        <p:txBody>
          <a:bodyPr wrap="square">
            <a:spAutoFit/>
          </a:bodyPr>
          <a:lstStyle/>
          <a:p>
            <a:pPr algn="just"/>
            <a:r>
              <a:rPr lang="es-MX" b="1" dirty="0">
                <a:latin typeface="Bahnschrift" panose="020B0502040204020203" pitchFamily="34" charset="0"/>
              </a:rPr>
              <a:t>7. Predicción de Ventas con Machine </a:t>
            </a:r>
            <a:r>
              <a:rPr lang="es-MX" b="1" dirty="0" err="1">
                <a:latin typeface="Bahnschrift" panose="020B0502040204020203" pitchFamily="34" charset="0"/>
              </a:rPr>
              <a:t>Learning</a:t>
            </a:r>
            <a:endParaRPr lang="es-MX" b="1" dirty="0">
              <a:latin typeface="Bahnschrift" panose="020B0502040204020203" pitchFamily="34" charset="0"/>
            </a:endParaRPr>
          </a:p>
          <a:p>
            <a:pPr algn="just"/>
            <a:r>
              <a:rPr lang="es-MX" b="1" i="0" dirty="0">
                <a:effectLst/>
                <a:latin typeface="Bahnschrift" panose="020B0502040204020203" pitchFamily="34" charset="0"/>
              </a:rPr>
              <a:t>Selección del Modelo</a:t>
            </a:r>
            <a:r>
              <a:rPr lang="es-MX" b="0" i="0" dirty="0">
                <a:effectLst/>
                <a:latin typeface="Bahnschrift" panose="020B0502040204020203" pitchFamily="34" charset="0"/>
              </a:rPr>
              <a:t>: Se utilizó un modelo de </a:t>
            </a:r>
            <a:r>
              <a:rPr lang="es-MX" b="1" i="0" dirty="0">
                <a:effectLst/>
                <a:latin typeface="Bahnschrift" panose="020B0502040204020203" pitchFamily="34" charset="0"/>
              </a:rPr>
              <a:t>regresión lineal múltiple</a:t>
            </a:r>
            <a:r>
              <a:rPr lang="es-MX" b="0" i="0" dirty="0">
                <a:effectLst/>
                <a:latin typeface="Bahnschrift" panose="020B0502040204020203" pitchFamily="34" charset="0"/>
              </a:rPr>
              <a:t> y un modelo de </a:t>
            </a:r>
            <a:r>
              <a:rPr lang="es-MX" b="1" i="0" dirty="0">
                <a:effectLst/>
                <a:latin typeface="Bahnschrift" panose="020B0502040204020203" pitchFamily="34" charset="0"/>
              </a:rPr>
              <a:t>series de tiempo ARIMA</a:t>
            </a:r>
            <a:r>
              <a:rPr lang="es-MX" b="0" i="0" dirty="0">
                <a:effectLst/>
                <a:latin typeface="Bahnschrift" panose="020B0502040204020203" pitchFamily="34" charset="0"/>
              </a:rPr>
              <a:t> para predecir las ventas futuras. La selección del modelo se basó en los patrones de ventas observados en los datos históricos.</a:t>
            </a:r>
          </a:p>
          <a:p>
            <a:pPr algn="just"/>
            <a:endParaRPr lang="es-MX" dirty="0">
              <a:latin typeface="Bahnschrift" panose="020B0502040204020203" pitchFamily="34" charset="0"/>
            </a:endParaRPr>
          </a:p>
        </p:txBody>
      </p:sp>
      <p:pic>
        <p:nvPicPr>
          <p:cNvPr id="5" name="Imagen 4">
            <a:extLst>
              <a:ext uri="{FF2B5EF4-FFF2-40B4-BE49-F238E27FC236}">
                <a16:creationId xmlns:a16="http://schemas.microsoft.com/office/drawing/2014/main" id="{905078A6-D2E4-F4B7-6992-07792F29A603}"/>
              </a:ext>
            </a:extLst>
          </p:cNvPr>
          <p:cNvPicPr>
            <a:picLocks noChangeAspect="1"/>
          </p:cNvPicPr>
          <p:nvPr/>
        </p:nvPicPr>
        <p:blipFill>
          <a:blip r:embed="rId2"/>
          <a:stretch>
            <a:fillRect/>
          </a:stretch>
        </p:blipFill>
        <p:spPr>
          <a:xfrm>
            <a:off x="665564" y="1529466"/>
            <a:ext cx="7901101" cy="3414056"/>
          </a:xfrm>
          <a:prstGeom prst="rect">
            <a:avLst/>
          </a:prstGeom>
        </p:spPr>
      </p:pic>
      <p:pic>
        <p:nvPicPr>
          <p:cNvPr id="7" name="Imagen 6">
            <a:extLst>
              <a:ext uri="{FF2B5EF4-FFF2-40B4-BE49-F238E27FC236}">
                <a16:creationId xmlns:a16="http://schemas.microsoft.com/office/drawing/2014/main" id="{183A8255-F260-6645-E44C-F787CB53E07D}"/>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6096000" y="3429000"/>
            <a:ext cx="5225191" cy="2795977"/>
          </a:xfrm>
          <a:prstGeom prst="rect">
            <a:avLst/>
          </a:prstGeom>
        </p:spPr>
      </p:pic>
      <p:sp>
        <p:nvSpPr>
          <p:cNvPr id="4" name="CuadroTexto 3">
            <a:extLst>
              <a:ext uri="{FF2B5EF4-FFF2-40B4-BE49-F238E27FC236}">
                <a16:creationId xmlns:a16="http://schemas.microsoft.com/office/drawing/2014/main" id="{0848D264-56AB-F987-4272-8489678576CE}"/>
              </a:ext>
            </a:extLst>
          </p:cNvPr>
          <p:cNvSpPr txBox="1"/>
          <p:nvPr/>
        </p:nvSpPr>
        <p:spPr>
          <a:xfrm>
            <a:off x="948991" y="5328534"/>
            <a:ext cx="4555456" cy="1231106"/>
          </a:xfrm>
          <a:prstGeom prst="rect">
            <a:avLst/>
          </a:prstGeom>
          <a:noFill/>
        </p:spPr>
        <p:txBody>
          <a:bodyPr wrap="square">
            <a:spAutoFit/>
          </a:bodyPr>
          <a:lstStyle/>
          <a:p>
            <a:pPr algn="just"/>
            <a:r>
              <a:rPr lang="es-MX" sz="1400" b="1" dirty="0">
                <a:latin typeface="Bahnschrift" panose="020B0502040204020203" pitchFamily="34" charset="0"/>
              </a:rPr>
              <a:t>Nota:</a:t>
            </a:r>
          </a:p>
          <a:p>
            <a:pPr algn="just"/>
            <a:r>
              <a:rPr lang="es-MX" sz="1200" dirty="0">
                <a:latin typeface="Bahnschrift" panose="020B0502040204020203" pitchFamily="34" charset="0"/>
              </a:rPr>
              <a:t>Se opto por usar “</a:t>
            </a:r>
            <a:r>
              <a:rPr lang="es-MX" sz="1200" dirty="0" err="1">
                <a:latin typeface="Bahnschrift" panose="020B0502040204020203" pitchFamily="34" charset="0"/>
              </a:rPr>
              <a:t>RandomForestRegressor</a:t>
            </a:r>
            <a:r>
              <a:rPr lang="es-MX" sz="1200" dirty="0">
                <a:latin typeface="Bahnschrift" panose="020B0502040204020203" pitchFamily="34" charset="0"/>
              </a:rPr>
              <a:t>” porque permite manejar variables categóricas y capturar relaciones no lineales ya que al utilizar una regresión lineal, los picos de ventas fueron ignorados y solo se detectaba el patrón de ventas normales</a:t>
            </a:r>
          </a:p>
        </p:txBody>
      </p:sp>
    </p:spTree>
    <p:extLst>
      <p:ext uri="{BB962C8B-B14F-4D97-AF65-F5344CB8AC3E}">
        <p14:creationId xmlns:p14="http://schemas.microsoft.com/office/powerpoint/2010/main" val="2114530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CF88E04-3377-4F28-38EE-93B873F4DB32}"/>
              </a:ext>
            </a:extLst>
          </p:cNvPr>
          <p:cNvPicPr>
            <a:picLocks noChangeAspect="1"/>
          </p:cNvPicPr>
          <p:nvPr/>
        </p:nvPicPr>
        <p:blipFill>
          <a:blip r:embed="rId2"/>
          <a:srcRect l="-232" t="-574" r="44334" b="574"/>
          <a:stretch/>
        </p:blipFill>
        <p:spPr>
          <a:xfrm>
            <a:off x="354931" y="1656757"/>
            <a:ext cx="4361447" cy="2094235"/>
          </a:xfrm>
          <a:prstGeom prst="rect">
            <a:avLst/>
          </a:prstGeom>
        </p:spPr>
      </p:pic>
      <p:pic>
        <p:nvPicPr>
          <p:cNvPr id="4" name="Imagen 3">
            <a:extLst>
              <a:ext uri="{FF2B5EF4-FFF2-40B4-BE49-F238E27FC236}">
                <a16:creationId xmlns:a16="http://schemas.microsoft.com/office/drawing/2014/main" id="{348C97EF-F0A3-0455-9025-CB52E71B99F2}"/>
              </a:ext>
            </a:extLst>
          </p:cNvPr>
          <p:cNvPicPr>
            <a:picLocks noChangeAspect="1"/>
          </p:cNvPicPr>
          <p:nvPr/>
        </p:nvPicPr>
        <p:blipFill>
          <a:blip r:embed="rId3"/>
          <a:stretch>
            <a:fillRect/>
          </a:stretch>
        </p:blipFill>
        <p:spPr>
          <a:xfrm>
            <a:off x="4878805" y="2385039"/>
            <a:ext cx="7252640" cy="4385728"/>
          </a:xfrm>
          <a:prstGeom prst="rect">
            <a:avLst/>
          </a:prstGeom>
        </p:spPr>
      </p:pic>
      <p:sp>
        <p:nvSpPr>
          <p:cNvPr id="6" name="CuadroTexto 5">
            <a:extLst>
              <a:ext uri="{FF2B5EF4-FFF2-40B4-BE49-F238E27FC236}">
                <a16:creationId xmlns:a16="http://schemas.microsoft.com/office/drawing/2014/main" id="{9A7E0ECB-344B-F98A-2754-4352558DCB1A}"/>
              </a:ext>
            </a:extLst>
          </p:cNvPr>
          <p:cNvSpPr txBox="1"/>
          <p:nvPr/>
        </p:nvSpPr>
        <p:spPr>
          <a:xfrm>
            <a:off x="1394660" y="475246"/>
            <a:ext cx="9402679" cy="923330"/>
          </a:xfrm>
          <a:prstGeom prst="rect">
            <a:avLst/>
          </a:prstGeom>
          <a:noFill/>
        </p:spPr>
        <p:txBody>
          <a:bodyPr wrap="square">
            <a:spAutoFit/>
          </a:bodyPr>
          <a:lstStyle/>
          <a:p>
            <a:pPr algn="just"/>
            <a:r>
              <a:rPr lang="es-MX" b="1" dirty="0">
                <a:latin typeface="Bahnschrift" panose="020B0502040204020203" pitchFamily="34" charset="0"/>
              </a:rPr>
              <a:t>Validación del Modelo: </a:t>
            </a:r>
            <a:r>
              <a:rPr lang="es-MX" dirty="0">
                <a:latin typeface="Bahnschrift" panose="020B0502040204020203" pitchFamily="34" charset="0"/>
              </a:rPr>
              <a:t>El modelo fue validado utilizando métricas como el Error Absoluto Medio (MAE) y el Error Cuadrático Medio (MSE). Se realizaron ajustes para optimizar la precisión del modelo.</a:t>
            </a:r>
          </a:p>
        </p:txBody>
      </p:sp>
    </p:spTree>
    <p:extLst>
      <p:ext uri="{BB962C8B-B14F-4D97-AF65-F5344CB8AC3E}">
        <p14:creationId xmlns:p14="http://schemas.microsoft.com/office/powerpoint/2010/main" val="3147689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06D3B39-858C-7ADD-3C44-C841F0E00CD3}"/>
              </a:ext>
            </a:extLst>
          </p:cNvPr>
          <p:cNvSpPr txBox="1"/>
          <p:nvPr/>
        </p:nvSpPr>
        <p:spPr>
          <a:xfrm>
            <a:off x="1132973" y="427120"/>
            <a:ext cx="9926053" cy="646331"/>
          </a:xfrm>
          <a:prstGeom prst="rect">
            <a:avLst/>
          </a:prstGeom>
          <a:noFill/>
        </p:spPr>
        <p:txBody>
          <a:bodyPr wrap="square">
            <a:spAutoFit/>
          </a:bodyPr>
          <a:lstStyle/>
          <a:p>
            <a:pPr algn="just"/>
            <a:r>
              <a:rPr lang="es-MX" b="1" dirty="0">
                <a:latin typeface="Bahnschrift" panose="020B0502040204020203" pitchFamily="34" charset="0"/>
              </a:rPr>
              <a:t>Predicciones Futuras: </a:t>
            </a:r>
            <a:r>
              <a:rPr lang="es-MX" dirty="0">
                <a:latin typeface="Bahnschrift" panose="020B0502040204020203" pitchFamily="34" charset="0"/>
              </a:rPr>
              <a:t>Las predicciones de ventas para los próximos meses se presentaron en forma de gráficos de líneas comparativos entre los datos reales y las predicciones del modelo.</a:t>
            </a:r>
          </a:p>
        </p:txBody>
      </p:sp>
      <p:pic>
        <p:nvPicPr>
          <p:cNvPr id="7" name="Imagen 6">
            <a:extLst>
              <a:ext uri="{FF2B5EF4-FFF2-40B4-BE49-F238E27FC236}">
                <a16:creationId xmlns:a16="http://schemas.microsoft.com/office/drawing/2014/main" id="{CEA0B9A7-C998-EF9A-2368-0940B33246DA}"/>
              </a:ext>
            </a:extLst>
          </p:cNvPr>
          <p:cNvPicPr>
            <a:picLocks noChangeAspect="1"/>
          </p:cNvPicPr>
          <p:nvPr/>
        </p:nvPicPr>
        <p:blipFill>
          <a:blip r:embed="rId2"/>
          <a:stretch>
            <a:fillRect/>
          </a:stretch>
        </p:blipFill>
        <p:spPr>
          <a:xfrm>
            <a:off x="737454" y="1384139"/>
            <a:ext cx="7624493" cy="3730682"/>
          </a:xfrm>
          <a:prstGeom prst="rect">
            <a:avLst/>
          </a:prstGeom>
        </p:spPr>
      </p:pic>
      <p:pic>
        <p:nvPicPr>
          <p:cNvPr id="4" name="Imagen 3">
            <a:extLst>
              <a:ext uri="{FF2B5EF4-FFF2-40B4-BE49-F238E27FC236}">
                <a16:creationId xmlns:a16="http://schemas.microsoft.com/office/drawing/2014/main" id="{6A1C0B8B-6C26-4B24-BA1A-2A8F35A19985}"/>
              </a:ext>
            </a:extLst>
          </p:cNvPr>
          <p:cNvPicPr>
            <a:picLocks noChangeAspect="1"/>
          </p:cNvPicPr>
          <p:nvPr/>
        </p:nvPicPr>
        <p:blipFill>
          <a:blip r:embed="rId3"/>
          <a:stretch>
            <a:fillRect/>
          </a:stretch>
        </p:blipFill>
        <p:spPr>
          <a:xfrm>
            <a:off x="7110155" y="3765214"/>
            <a:ext cx="3686689" cy="2419688"/>
          </a:xfrm>
          <a:prstGeom prst="rect">
            <a:avLst/>
          </a:prstGeom>
        </p:spPr>
      </p:pic>
    </p:spTree>
    <p:extLst>
      <p:ext uri="{BB962C8B-B14F-4D97-AF65-F5344CB8AC3E}">
        <p14:creationId xmlns:p14="http://schemas.microsoft.com/office/powerpoint/2010/main" val="1055961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4DE07BC3-913C-D0AC-533B-AAE98021A22E}"/>
              </a:ext>
            </a:extLst>
          </p:cNvPr>
          <p:cNvPicPr>
            <a:picLocks noChangeAspect="1"/>
          </p:cNvPicPr>
          <p:nvPr/>
        </p:nvPicPr>
        <p:blipFill>
          <a:blip r:embed="rId2"/>
          <a:stretch>
            <a:fillRect/>
          </a:stretch>
        </p:blipFill>
        <p:spPr>
          <a:xfrm>
            <a:off x="434420" y="1392799"/>
            <a:ext cx="6693988" cy="4791871"/>
          </a:xfrm>
          <a:prstGeom prst="rect">
            <a:avLst/>
          </a:prstGeom>
        </p:spPr>
      </p:pic>
      <p:pic>
        <p:nvPicPr>
          <p:cNvPr id="4" name="Imagen 3">
            <a:extLst>
              <a:ext uri="{FF2B5EF4-FFF2-40B4-BE49-F238E27FC236}">
                <a16:creationId xmlns:a16="http://schemas.microsoft.com/office/drawing/2014/main" id="{DA612E14-88C8-D422-66F5-6E73854C8272}"/>
              </a:ext>
            </a:extLst>
          </p:cNvPr>
          <p:cNvPicPr>
            <a:picLocks noChangeAspect="1"/>
          </p:cNvPicPr>
          <p:nvPr/>
        </p:nvPicPr>
        <p:blipFill>
          <a:blip r:embed="rId3"/>
          <a:stretch>
            <a:fillRect/>
          </a:stretch>
        </p:blipFill>
        <p:spPr>
          <a:xfrm>
            <a:off x="434420" y="1029793"/>
            <a:ext cx="1352739" cy="381053"/>
          </a:xfrm>
          <a:prstGeom prst="rect">
            <a:avLst/>
          </a:prstGeom>
        </p:spPr>
      </p:pic>
      <p:pic>
        <p:nvPicPr>
          <p:cNvPr id="6" name="Imagen 5">
            <a:extLst>
              <a:ext uri="{FF2B5EF4-FFF2-40B4-BE49-F238E27FC236}">
                <a16:creationId xmlns:a16="http://schemas.microsoft.com/office/drawing/2014/main" id="{7B7B8A62-4297-F9A1-B76A-2B2D5C747B64}"/>
              </a:ext>
            </a:extLst>
          </p:cNvPr>
          <p:cNvPicPr>
            <a:picLocks noChangeAspect="1"/>
          </p:cNvPicPr>
          <p:nvPr/>
        </p:nvPicPr>
        <p:blipFill>
          <a:blip r:embed="rId4"/>
          <a:srcRect t="1439"/>
          <a:stretch/>
        </p:blipFill>
        <p:spPr>
          <a:xfrm>
            <a:off x="7848613" y="1834815"/>
            <a:ext cx="3675121" cy="3188370"/>
          </a:xfrm>
          <a:prstGeom prst="rect">
            <a:avLst/>
          </a:prstGeom>
        </p:spPr>
      </p:pic>
      <p:sp>
        <p:nvSpPr>
          <p:cNvPr id="3" name="CuadroTexto 2">
            <a:extLst>
              <a:ext uri="{FF2B5EF4-FFF2-40B4-BE49-F238E27FC236}">
                <a16:creationId xmlns:a16="http://schemas.microsoft.com/office/drawing/2014/main" id="{5D9BC33F-A14E-8B43-2082-F51F913DF53B}"/>
              </a:ext>
            </a:extLst>
          </p:cNvPr>
          <p:cNvSpPr txBox="1"/>
          <p:nvPr/>
        </p:nvSpPr>
        <p:spPr>
          <a:xfrm>
            <a:off x="896353" y="304500"/>
            <a:ext cx="4492511" cy="400110"/>
          </a:xfrm>
          <a:prstGeom prst="rect">
            <a:avLst/>
          </a:prstGeom>
          <a:noFill/>
        </p:spPr>
        <p:txBody>
          <a:bodyPr wrap="square">
            <a:spAutoFit/>
          </a:bodyPr>
          <a:lstStyle/>
          <a:p>
            <a:r>
              <a:rPr lang="es-MX" sz="2000" dirty="0">
                <a:latin typeface="Bahnschrift" panose="020B0502040204020203" pitchFamily="34" charset="0"/>
              </a:rPr>
              <a:t>Resultado predicciones:</a:t>
            </a:r>
          </a:p>
        </p:txBody>
      </p:sp>
    </p:spTree>
    <p:extLst>
      <p:ext uri="{BB962C8B-B14F-4D97-AF65-F5344CB8AC3E}">
        <p14:creationId xmlns:p14="http://schemas.microsoft.com/office/powerpoint/2010/main" val="2956438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CDA6974-DE4A-F937-C268-7407E2C4BBDB}"/>
              </a:ext>
            </a:extLst>
          </p:cNvPr>
          <p:cNvSpPr txBox="1"/>
          <p:nvPr/>
        </p:nvSpPr>
        <p:spPr>
          <a:xfrm>
            <a:off x="1317457" y="523374"/>
            <a:ext cx="7952874" cy="4893647"/>
          </a:xfrm>
          <a:prstGeom prst="rect">
            <a:avLst/>
          </a:prstGeom>
          <a:noFill/>
        </p:spPr>
        <p:txBody>
          <a:bodyPr wrap="square">
            <a:spAutoFit/>
          </a:bodyPr>
          <a:lstStyle/>
          <a:p>
            <a:pPr algn="just"/>
            <a:r>
              <a:rPr lang="es-MX" sz="2000" b="1" dirty="0">
                <a:latin typeface="Bahnschrift" panose="020B0502040204020203" pitchFamily="34" charset="0"/>
              </a:rPr>
              <a:t>8. Conclusiones y Recomendaciones</a:t>
            </a:r>
          </a:p>
          <a:p>
            <a:pPr algn="just"/>
            <a:r>
              <a:rPr lang="es-MX" sz="2000" b="1" i="0" dirty="0">
                <a:effectLst/>
                <a:latin typeface="Bahnschrift" panose="020B0502040204020203" pitchFamily="34" charset="0"/>
              </a:rPr>
              <a:t>Resumen de los Hallazgos Clave:</a:t>
            </a:r>
          </a:p>
          <a:p>
            <a:pPr algn="just"/>
            <a:endParaRPr lang="es-MX" sz="1600" dirty="0">
              <a:latin typeface="Bahnschrift" panose="020B0502040204020203" pitchFamily="34" charset="0"/>
            </a:endParaRPr>
          </a:p>
          <a:p>
            <a:pPr algn="just"/>
            <a:r>
              <a:rPr lang="es-MX" sz="1600" b="1" dirty="0">
                <a:latin typeface="Bahnschrift" panose="020B0502040204020203" pitchFamily="34" charset="0"/>
              </a:rPr>
              <a:t>1. Tendencia de Crecimiento: </a:t>
            </a:r>
            <a:r>
              <a:rPr lang="es-MX" sz="1600" dirty="0">
                <a:latin typeface="Bahnschrift" panose="020B0502040204020203" pitchFamily="34" charset="0"/>
              </a:rPr>
              <a:t>Ambas marcas muestran un aumento en sus ventas al pasar de la semana 28 a la 29. Esto indica que el modelo detectó que históricamente el tercer trimestre del año 2023 tiene un desempeño superior al cierre del segundo trimestre.</a:t>
            </a:r>
          </a:p>
          <a:p>
            <a:pPr marL="342900" indent="-342900" algn="just">
              <a:buAutoNum type="arabicPeriod"/>
            </a:pPr>
            <a:endParaRPr lang="es-MX" sz="1600" dirty="0">
              <a:latin typeface="Bahnschrift" panose="020B0502040204020203" pitchFamily="34" charset="0"/>
            </a:endParaRPr>
          </a:p>
          <a:p>
            <a:pPr algn="just"/>
            <a:r>
              <a:rPr lang="es-MX" sz="1600" b="1" dirty="0">
                <a:latin typeface="Bahnschrift" panose="020B0502040204020203" pitchFamily="34" charset="0"/>
              </a:rPr>
              <a:t>2. Estabilidad en Vanish: </a:t>
            </a:r>
            <a:r>
              <a:rPr lang="es-MX" sz="1600" dirty="0">
                <a:latin typeface="Bahnschrift" panose="020B0502040204020203" pitchFamily="34" charset="0"/>
              </a:rPr>
              <a:t>La predicción para Vanish se mantiene constante en $122.92. Esto nos da a entender que el modelo ha encontrado un "punto de equilibrio" o nivel de ventas base, al no haber variables que indiquen cambios bruscos (como una oferta programada), el modelo proyecta un valor estable.</a:t>
            </a:r>
          </a:p>
          <a:p>
            <a:pPr algn="just"/>
            <a:endParaRPr lang="es-MX" sz="1600" dirty="0">
              <a:latin typeface="Bahnschrift" panose="020B0502040204020203" pitchFamily="34" charset="0"/>
            </a:endParaRPr>
          </a:p>
          <a:p>
            <a:pPr algn="just"/>
            <a:r>
              <a:rPr lang="es-MX" sz="1600" b="1" dirty="0">
                <a:latin typeface="Bahnschrift" panose="020B0502040204020203" pitchFamily="34" charset="0"/>
              </a:rPr>
              <a:t>3. Valores variables en Lysol: </a:t>
            </a:r>
            <a:r>
              <a:rPr lang="es-MX" sz="1600" dirty="0">
                <a:latin typeface="Bahnschrift" panose="020B0502040204020203" pitchFamily="34" charset="0"/>
              </a:rPr>
              <a:t>A diferencia de Vanish, Lysol presenta </a:t>
            </a:r>
          </a:p>
          <a:p>
            <a:pPr algn="just"/>
            <a:r>
              <a:rPr lang="es-MX" sz="1600" dirty="0">
                <a:latin typeface="Bahnschrift" panose="020B0502040204020203" pitchFamily="34" charset="0"/>
              </a:rPr>
              <a:t>ligeras variaciones en sus predicciones (subiendo de $40 a $45). </a:t>
            </a:r>
          </a:p>
          <a:p>
            <a:pPr algn="just"/>
            <a:r>
              <a:rPr lang="es-MX" sz="1600" dirty="0">
                <a:latin typeface="Bahnschrift" panose="020B0502040204020203" pitchFamily="34" charset="0"/>
              </a:rPr>
              <a:t>Esto sugiere que Lysol es más sensible a las variables temporales </a:t>
            </a:r>
          </a:p>
          <a:p>
            <a:pPr algn="just"/>
            <a:r>
              <a:rPr lang="es-MX" sz="1600" dirty="0">
                <a:latin typeface="Bahnschrift" panose="020B0502040204020203" pitchFamily="34" charset="0"/>
              </a:rPr>
              <a:t>(semanas/meses) que Vanish en este modelo.</a:t>
            </a:r>
            <a:endParaRPr lang="es-MX" sz="1600" dirty="0"/>
          </a:p>
          <a:p>
            <a:pPr algn="just"/>
            <a:endParaRPr lang="es-MX" sz="1600" dirty="0"/>
          </a:p>
          <a:p>
            <a:pPr algn="just"/>
            <a:endParaRPr lang="es-MX" sz="1600" dirty="0"/>
          </a:p>
        </p:txBody>
      </p:sp>
      <p:pic>
        <p:nvPicPr>
          <p:cNvPr id="6" name="Imagen 5">
            <a:extLst>
              <a:ext uri="{FF2B5EF4-FFF2-40B4-BE49-F238E27FC236}">
                <a16:creationId xmlns:a16="http://schemas.microsoft.com/office/drawing/2014/main" id="{261B3286-A9A8-10D4-8FC7-BCD222D8AC78}"/>
              </a:ext>
            </a:extLst>
          </p:cNvPr>
          <p:cNvPicPr>
            <a:picLocks noChangeAspect="1"/>
          </p:cNvPicPr>
          <p:nvPr/>
        </p:nvPicPr>
        <p:blipFill>
          <a:blip r:embed="rId2"/>
          <a:stretch>
            <a:fillRect/>
          </a:stretch>
        </p:blipFill>
        <p:spPr>
          <a:xfrm>
            <a:off x="8019046" y="3700360"/>
            <a:ext cx="3151014" cy="2773595"/>
          </a:xfrm>
          <a:prstGeom prst="rect">
            <a:avLst/>
          </a:prstGeom>
        </p:spPr>
      </p:pic>
    </p:spTree>
    <p:extLst>
      <p:ext uri="{BB962C8B-B14F-4D97-AF65-F5344CB8AC3E}">
        <p14:creationId xmlns:p14="http://schemas.microsoft.com/office/powerpoint/2010/main" val="32179636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3113D7D-E88F-9B33-90B8-6810FE5F69A1}"/>
              </a:ext>
            </a:extLst>
          </p:cNvPr>
          <p:cNvSpPr txBox="1"/>
          <p:nvPr/>
        </p:nvSpPr>
        <p:spPr>
          <a:xfrm>
            <a:off x="879744" y="842210"/>
            <a:ext cx="7253603" cy="2616101"/>
          </a:xfrm>
          <a:prstGeom prst="rect">
            <a:avLst/>
          </a:prstGeom>
          <a:noFill/>
        </p:spPr>
        <p:txBody>
          <a:bodyPr wrap="square">
            <a:spAutoFit/>
          </a:bodyPr>
          <a:lstStyle/>
          <a:p>
            <a:pPr algn="just"/>
            <a:r>
              <a:rPr lang="es-MX" sz="2000" b="1" dirty="0">
                <a:latin typeface="Bahnschrift" panose="020B0502040204020203" pitchFamily="34" charset="0"/>
              </a:rPr>
              <a:t>Impacto del Análisis en la Estrategia Empresarial:</a:t>
            </a:r>
          </a:p>
          <a:p>
            <a:pPr algn="just"/>
            <a:endParaRPr lang="es-MX" dirty="0">
              <a:latin typeface="Bahnschrift" panose="020B0502040204020203" pitchFamily="34" charset="0"/>
            </a:endParaRPr>
          </a:p>
          <a:p>
            <a:pPr algn="just"/>
            <a:r>
              <a:rPr lang="es-MX" dirty="0">
                <a:latin typeface="Bahnschrift" panose="020B0502040204020203" pitchFamily="34" charset="0"/>
              </a:rPr>
              <a:t>El modelo predictivo cumple con el objetivo de proporcionar una hoja de ruta para el inicio del Q3-2023. Los resultados sugieren un entorno de demanda saludable y creciente para la categoría de limpieza. La implementación de este modelo permite pasar de una administración reactiva a una </a:t>
            </a:r>
            <a:r>
              <a:rPr lang="es-MX" b="1" dirty="0">
                <a:latin typeface="Bahnschrift" panose="020B0502040204020203" pitchFamily="34" charset="0"/>
              </a:rPr>
              <a:t>planeación proactiva</a:t>
            </a:r>
            <a:r>
              <a:rPr lang="es-MX" dirty="0">
                <a:latin typeface="Bahnschrift" panose="020B0502040204020203" pitchFamily="34" charset="0"/>
              </a:rPr>
              <a:t>, optimizando los recursos de la empresa y asegurando la satisfacción del cliente final.</a:t>
            </a:r>
          </a:p>
        </p:txBody>
      </p:sp>
      <p:pic>
        <p:nvPicPr>
          <p:cNvPr id="4" name="Imagen 3" descr="Interfaz de usuario gráfica&#10;&#10;El contenido generado por IA puede ser incorrecto.">
            <a:extLst>
              <a:ext uri="{FF2B5EF4-FFF2-40B4-BE49-F238E27FC236}">
                <a16:creationId xmlns:a16="http://schemas.microsoft.com/office/drawing/2014/main" id="{27C0F2ED-3297-F782-ED33-4EE709257A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2242" y="3622849"/>
            <a:ext cx="3847849" cy="2769929"/>
          </a:xfrm>
          <a:prstGeom prst="rect">
            <a:avLst/>
          </a:prstGeom>
        </p:spPr>
      </p:pic>
    </p:spTree>
    <p:extLst>
      <p:ext uri="{BB962C8B-B14F-4D97-AF65-F5344CB8AC3E}">
        <p14:creationId xmlns:p14="http://schemas.microsoft.com/office/powerpoint/2010/main" val="35515890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05E2B08-C10B-EBAB-2840-1A4000CFC52F}"/>
              </a:ext>
            </a:extLst>
          </p:cNvPr>
          <p:cNvSpPr txBox="1"/>
          <p:nvPr/>
        </p:nvSpPr>
        <p:spPr>
          <a:xfrm>
            <a:off x="753411" y="463216"/>
            <a:ext cx="8793646" cy="4832092"/>
          </a:xfrm>
          <a:prstGeom prst="rect">
            <a:avLst/>
          </a:prstGeom>
          <a:noFill/>
        </p:spPr>
        <p:txBody>
          <a:bodyPr wrap="square">
            <a:spAutoFit/>
          </a:bodyPr>
          <a:lstStyle/>
          <a:p>
            <a:pPr algn="just"/>
            <a:r>
              <a:rPr lang="es-MX" sz="2000" b="1" dirty="0">
                <a:latin typeface="Bahnschrift" panose="020B0502040204020203" pitchFamily="34" charset="0"/>
              </a:rPr>
              <a:t>Recomendaciones Estratégicas:</a:t>
            </a:r>
          </a:p>
          <a:p>
            <a:pPr algn="just"/>
            <a:endParaRPr lang="es-MX" dirty="0">
              <a:latin typeface="Bahnschrift" panose="020B0502040204020203" pitchFamily="34" charset="0"/>
            </a:endParaRPr>
          </a:p>
          <a:p>
            <a:pPr algn="just"/>
            <a:r>
              <a:rPr lang="es-MX" b="1" dirty="0">
                <a:latin typeface="Bahnschrift" panose="020B0502040204020203" pitchFamily="34" charset="0"/>
              </a:rPr>
              <a:t>1. Gestión de Inventarios (Stock): </a:t>
            </a:r>
            <a:r>
              <a:rPr lang="es-MX" dirty="0">
                <a:latin typeface="Bahnschrift" panose="020B0502040204020203" pitchFamily="34" charset="0"/>
              </a:rPr>
              <a:t>Dado que se predice un incremento en ambas marcas respecto al último dato histórico (Lysol sube de $18 a $40 y Vanish de $94 a $122), sería recomendable aumentar el inventario en un 30% para la semana 29, ya que de lo contrario, existe un riesgo alto de pérdida de ventas por desabasto de producto.</a:t>
            </a:r>
          </a:p>
          <a:p>
            <a:pPr algn="just"/>
            <a:endParaRPr lang="es-MX" dirty="0">
              <a:latin typeface="Bahnschrift" panose="020B0502040204020203" pitchFamily="34" charset="0"/>
            </a:endParaRPr>
          </a:p>
          <a:p>
            <a:pPr algn="just"/>
            <a:r>
              <a:rPr lang="es-MX" b="1" dirty="0">
                <a:latin typeface="Bahnschrift" panose="020B0502040204020203" pitchFamily="34" charset="0"/>
              </a:rPr>
              <a:t>2. Estrategia Comercial y Marketing: </a:t>
            </a:r>
            <a:r>
              <a:rPr lang="es-MX" dirty="0">
                <a:latin typeface="Bahnschrift" panose="020B0502040204020203" pitchFamily="34" charset="0"/>
              </a:rPr>
              <a:t>Si para las semanas 29 a 32 no hay campañas de marketing planeadas, el modelo nos dice que las ventas subirán de forma orgánica, por el contrario, si hubiera campañas programadas, los resultados reales serán probablemente mucho más altos que la predicción, por lo que se debe preparar una capacidad logística extra.</a:t>
            </a:r>
          </a:p>
          <a:p>
            <a:pPr algn="just"/>
            <a:endParaRPr lang="es-MX" dirty="0">
              <a:latin typeface="Bahnschrift" panose="020B0502040204020203" pitchFamily="34" charset="0"/>
            </a:endParaRPr>
          </a:p>
          <a:p>
            <a:pPr algn="just"/>
            <a:r>
              <a:rPr lang="es-MX" b="1" dirty="0">
                <a:latin typeface="Bahnschrift" panose="020B0502040204020203" pitchFamily="34" charset="0"/>
              </a:rPr>
              <a:t>3. Impulso a Lysol: </a:t>
            </a:r>
            <a:r>
              <a:rPr lang="es-MX" dirty="0">
                <a:latin typeface="Bahnschrift" panose="020B0502040204020203" pitchFamily="34" charset="0"/>
              </a:rPr>
              <a:t>Al ser la marca con menor volumen total pero con tendencia creciente, podríamos buscar la forma de darle un empujón extra en la semana 32 para aprovechar aún más el impulso natural que el modelo ya detectó.</a:t>
            </a:r>
          </a:p>
        </p:txBody>
      </p:sp>
      <p:pic>
        <p:nvPicPr>
          <p:cNvPr id="4" name="Imagen 3" descr="Imagen que contiene reloj, tabla&#10;&#10;El contenido generado por IA puede ser incorrecto.">
            <a:extLst>
              <a:ext uri="{FF2B5EF4-FFF2-40B4-BE49-F238E27FC236}">
                <a16:creationId xmlns:a16="http://schemas.microsoft.com/office/drawing/2014/main" id="{74CDD6B1-5A98-2484-C0BB-17F82E2A1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0153" y="4623863"/>
            <a:ext cx="3378868" cy="1902515"/>
          </a:xfrm>
          <a:prstGeom prst="rect">
            <a:avLst/>
          </a:prstGeom>
        </p:spPr>
      </p:pic>
    </p:spTree>
    <p:extLst>
      <p:ext uri="{BB962C8B-B14F-4D97-AF65-F5344CB8AC3E}">
        <p14:creationId xmlns:p14="http://schemas.microsoft.com/office/powerpoint/2010/main" val="1696900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DFED2D5-D8F6-D1D0-346D-2E375EA2ECCF}"/>
              </a:ext>
            </a:extLst>
          </p:cNvPr>
          <p:cNvSpPr txBox="1"/>
          <p:nvPr/>
        </p:nvSpPr>
        <p:spPr>
          <a:xfrm>
            <a:off x="469232" y="643690"/>
            <a:ext cx="9456821" cy="3724096"/>
          </a:xfrm>
          <a:prstGeom prst="rect">
            <a:avLst/>
          </a:prstGeom>
          <a:noFill/>
        </p:spPr>
        <p:txBody>
          <a:bodyPr wrap="square">
            <a:spAutoFit/>
          </a:bodyPr>
          <a:lstStyle/>
          <a:p>
            <a:pPr algn="just"/>
            <a:r>
              <a:rPr lang="es-MX" sz="2000" b="1" dirty="0">
                <a:latin typeface="Bahnschrift" panose="020B0502040204020203" pitchFamily="34" charset="0"/>
              </a:rPr>
              <a:t>Futuras Mejoras:</a:t>
            </a:r>
          </a:p>
          <a:p>
            <a:pPr algn="just"/>
            <a:endParaRPr lang="es-MX" dirty="0">
              <a:latin typeface="Bahnschrift" panose="020B0502040204020203" pitchFamily="34" charset="0"/>
            </a:endParaRPr>
          </a:p>
          <a:p>
            <a:pPr algn="just"/>
            <a:r>
              <a:rPr lang="es-MX" b="1" dirty="0">
                <a:latin typeface="Bahnschrift" panose="020B0502040204020203" pitchFamily="34" charset="0"/>
              </a:rPr>
              <a:t>1. Inclusión de Variables Externas: </a:t>
            </a:r>
            <a:r>
              <a:rPr lang="es-MX" dirty="0">
                <a:latin typeface="Bahnschrift" panose="020B0502040204020203" pitchFamily="34" charset="0"/>
              </a:rPr>
              <a:t>Para evitar el valor constante en Vanish, podríamos integrar en las próximas predicciones datos de Precios de la Competencia y Días Festivos, ya que esto permitirá que la línea de predicción tenga más "curvas" y sea más precisa frente a la realidad.</a:t>
            </a:r>
          </a:p>
          <a:p>
            <a:pPr algn="just"/>
            <a:endParaRPr lang="es-MX" dirty="0">
              <a:latin typeface="Bahnschrift" panose="020B0502040204020203" pitchFamily="34" charset="0"/>
            </a:endParaRPr>
          </a:p>
          <a:p>
            <a:pPr algn="just"/>
            <a:r>
              <a:rPr lang="es-MX" b="1" dirty="0">
                <a:latin typeface="Bahnschrift" panose="020B0502040204020203" pitchFamily="34" charset="0"/>
              </a:rPr>
              <a:t>2. Monitoreo de Errores: </a:t>
            </a:r>
            <a:r>
              <a:rPr lang="es-MX" dirty="0">
                <a:latin typeface="Bahnschrift" panose="020B0502040204020203" pitchFamily="34" charset="0"/>
              </a:rPr>
              <a:t>Se debe comparar el resultado real de la semana 29 (cuando ocurra) contra nuestra predicción de $122.92 para ajustar el o sesgo del modelo y ver cual fue su capacidad real de predicción.</a:t>
            </a:r>
          </a:p>
          <a:p>
            <a:pPr algn="just"/>
            <a:endParaRPr lang="es-MX" dirty="0">
              <a:latin typeface="Bahnschrift" panose="020B0502040204020203" pitchFamily="34" charset="0"/>
            </a:endParaRPr>
          </a:p>
          <a:p>
            <a:pPr algn="just"/>
            <a:r>
              <a:rPr lang="es-MX" b="1" dirty="0">
                <a:latin typeface="Bahnschrift" panose="020B0502040204020203" pitchFamily="34" charset="0"/>
              </a:rPr>
              <a:t>3. Exploración de modelos de Deep </a:t>
            </a:r>
            <a:r>
              <a:rPr lang="es-MX" b="1" dirty="0" err="1">
                <a:latin typeface="Bahnschrift" panose="020B0502040204020203" pitchFamily="34" charset="0"/>
              </a:rPr>
              <a:t>Learning</a:t>
            </a:r>
            <a:r>
              <a:rPr lang="es-MX" b="1" dirty="0">
                <a:latin typeface="Bahnschrift" panose="020B0502040204020203" pitchFamily="34" charset="0"/>
              </a:rPr>
              <a:t> </a:t>
            </a:r>
            <a:r>
              <a:rPr lang="es-MX" dirty="0">
                <a:latin typeface="Bahnschrift" panose="020B0502040204020203" pitchFamily="34" charset="0"/>
              </a:rPr>
              <a:t>(Redes Neuronales Recurrentes como LSTM) para series de tiempo más complejas.</a:t>
            </a:r>
          </a:p>
        </p:txBody>
      </p:sp>
      <p:pic>
        <p:nvPicPr>
          <p:cNvPr id="4" name="Imagen 3" descr="Una caricatura de una persona&#10;&#10;El contenido generado por IA puede ser incorrecto.">
            <a:extLst>
              <a:ext uri="{FF2B5EF4-FFF2-40B4-BE49-F238E27FC236}">
                <a16:creationId xmlns:a16="http://schemas.microsoft.com/office/drawing/2014/main" id="{7E7046EC-92F9-A48C-0819-FE5A245555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0873" y="3874168"/>
            <a:ext cx="4539384" cy="2555959"/>
          </a:xfrm>
          <a:prstGeom prst="rect">
            <a:avLst/>
          </a:prstGeom>
        </p:spPr>
      </p:pic>
    </p:spTree>
    <p:extLst>
      <p:ext uri="{BB962C8B-B14F-4D97-AF65-F5344CB8AC3E}">
        <p14:creationId xmlns:p14="http://schemas.microsoft.com/office/powerpoint/2010/main" val="8907795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izarra">
  <a:themeElements>
    <a:clrScheme name="Pizarra">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Pizarra">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izarra">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TM04033929[[fn=Pizarra]]</Template>
  <TotalTime>200</TotalTime>
  <Words>1392</Words>
  <Application>Microsoft Office PowerPoint</Application>
  <PresentationFormat>Panorámica</PresentationFormat>
  <Paragraphs>101</Paragraphs>
  <Slides>23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23</vt:i4>
      </vt:variant>
    </vt:vector>
  </HeadingPairs>
  <TitlesOfParts>
    <vt:vector size="28" baseType="lpstr">
      <vt:lpstr>Arial</vt:lpstr>
      <vt:lpstr>Bahnschrift</vt:lpstr>
      <vt:lpstr>Calisto MT</vt:lpstr>
      <vt:lpstr>Wingdings 2</vt:lpstr>
      <vt:lpstr>Pizarra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Alan HDLR</dc:creator>
  <cp:lastModifiedBy>Alan HDLR</cp:lastModifiedBy>
  <cp:revision>38</cp:revision>
  <dcterms:created xsi:type="dcterms:W3CDTF">2026-04-24T13:36:48Z</dcterms:created>
  <dcterms:modified xsi:type="dcterms:W3CDTF">2026-04-25T14:37:03Z</dcterms:modified>
</cp:coreProperties>
</file>